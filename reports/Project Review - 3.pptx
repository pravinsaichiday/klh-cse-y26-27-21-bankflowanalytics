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6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6381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112099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313647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663350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0209465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200991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81391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80149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01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64F6A9-F91A-0AF6-6B81-CE69EF893558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39444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2136474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090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278753-E986-EF3A-5147-A1E61DFDE860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164473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8449961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449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54570-B9C7-D3CC-0627-96F1E279EC67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334857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328871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4992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BBD513-914D-7D35-7016-84FCB35D661D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BA209-953F-E218-2B77-E0E817DB8B1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74429" name="Slide Image Placeholder 1">
            <a:extLst>
              <a:ext uri="{FF2B5EF4-FFF2-40B4-BE49-F238E27FC236}">
                <a16:creationId xmlns:a16="http://schemas.microsoft.com/office/drawing/2014/main" id="{FC8350ED-225E-4AF3-AE84-30BAB8F0D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146906740" name="Notes Placeholder 2">
            <a:extLst>
              <a:ext uri="{FF2B5EF4-FFF2-40B4-BE49-F238E27FC236}">
                <a16:creationId xmlns:a16="http://schemas.microsoft.com/office/drawing/2014/main" id="{4B619B09-FC9C-D096-ABAA-5F5E0D6309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1601863" name="Slide Number Placeholder 3">
            <a:extLst>
              <a:ext uri="{FF2B5EF4-FFF2-40B4-BE49-F238E27FC236}">
                <a16:creationId xmlns:a16="http://schemas.microsoft.com/office/drawing/2014/main" id="{8B196C99-CC33-1FCC-3278-8D7EE184C9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ACF463-F719-1DDE-2239-EF211281D24C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4730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639254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endParaRPr lang="en-IN"/>
          </a:p>
        </p:txBody>
      </p:sp>
      <p:sp>
        <p:nvSpPr>
          <p:cNvPr id="315871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39532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EBE623-A73A-08B4-489B-08165C6163A8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56976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5173540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544003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13721375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59444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0137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621726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000324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1798815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42927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57517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969704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74696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10727335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28946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4660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3640878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477490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921837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5445367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392064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7738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1566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6481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855627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1523436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4414690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11513993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669116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8446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1425439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54886903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833032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84463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166965553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807737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77237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1894682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776505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673998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2775197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75858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048378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4647280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06091339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33721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1689427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63131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5073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9929834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881720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13779064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07114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6557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8464262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757001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5167279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84824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20254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117298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60091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9/16/2026</a:t>
            </a:fld>
            <a:endParaRPr lang="en-US"/>
          </a:p>
        </p:txBody>
      </p:sp>
      <p:sp>
        <p:nvSpPr>
          <p:cNvPr id="41820253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329424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91975550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59616857" name="TextBox 2"/>
          <p:cNvSpPr txBox="1"/>
          <p:nvPr/>
        </p:nvSpPr>
        <p:spPr bwMode="auto">
          <a:xfrm>
            <a:off x="1274685" y="2458352"/>
            <a:ext cx="10731419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4000" b="1">
                <a:latin typeface="Montserrat"/>
              </a:rPr>
              <a:t>Real-Time Banking Transaction Analytics &amp; Anomaly Monitoring Platform</a:t>
            </a:r>
            <a:endParaRPr/>
          </a:p>
        </p:txBody>
      </p:sp>
      <p:sp>
        <p:nvSpPr>
          <p:cNvPr id="215846398" name="TextBox 3"/>
          <p:cNvSpPr txBox="1"/>
          <p:nvPr/>
        </p:nvSpPr>
        <p:spPr bwMode="auto">
          <a:xfrm>
            <a:off x="1219199" y="3874739"/>
            <a:ext cx="10211879" cy="384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  <a:defRPr/>
            </a:pPr>
            <a:endParaRPr>
              <a:latin typeface="Montserrat"/>
            </a:endParaRPr>
          </a:p>
        </p:txBody>
      </p:sp>
      <p:sp>
        <p:nvSpPr>
          <p:cNvPr id="1738550049" name="TextBox 1418755262"/>
          <p:cNvSpPr txBox="1"/>
          <p:nvPr/>
        </p:nvSpPr>
        <p:spPr bwMode="auto">
          <a:xfrm>
            <a:off x="4731783" y="701978"/>
            <a:ext cx="3377083" cy="37779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dirty="0">
                <a:latin typeface="Montserrat"/>
              </a:rPr>
              <a:t>Project Review - </a:t>
            </a:r>
            <a:r>
              <a:rPr lang="en-US" dirty="0">
                <a:latin typeface="Montserrat"/>
              </a:rPr>
              <a:t>3</a:t>
            </a:r>
            <a:endParaRPr dirty="0"/>
          </a:p>
        </p:txBody>
      </p:sp>
      <p:sp>
        <p:nvSpPr>
          <p:cNvPr id="240407764" name="TextBox 1498718319"/>
          <p:cNvSpPr txBox="1"/>
          <p:nvPr/>
        </p:nvSpPr>
        <p:spPr bwMode="auto">
          <a:xfrm>
            <a:off x="4684370" y="1092574"/>
            <a:ext cx="3471192" cy="3737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>
                <a:latin typeface="Montserrat"/>
              </a:rPr>
              <a:t>Course Code - 24DEA3101</a:t>
            </a:r>
            <a:endParaRPr/>
          </a:p>
        </p:txBody>
      </p:sp>
      <p:sp>
        <p:nvSpPr>
          <p:cNvPr id="301923422" name="TextBox 1693129719"/>
          <p:cNvSpPr txBox="1"/>
          <p:nvPr/>
        </p:nvSpPr>
        <p:spPr bwMode="auto">
          <a:xfrm>
            <a:off x="2906100" y="4547400"/>
            <a:ext cx="7260209" cy="121802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>
                <a:latin typeface="Montserrat"/>
              </a:rPr>
              <a:t>FDE TEAM 21</a:t>
            </a:r>
            <a:endParaRPr/>
          </a:p>
          <a:p>
            <a:pPr algn="ctr">
              <a:defRPr/>
            </a:pPr>
            <a:r>
              <a:rPr>
                <a:latin typeface="Montserrat"/>
              </a:rPr>
              <a:t>B Raghu Nandan - 2420030058</a:t>
            </a:r>
            <a:endParaRPr/>
          </a:p>
          <a:p>
            <a:pPr algn="ctr">
              <a:defRPr/>
            </a:pPr>
            <a:r>
              <a:rPr>
                <a:latin typeface="Montserrat"/>
              </a:rPr>
              <a:t>C Pravin Sai - 2420030777</a:t>
            </a:r>
            <a:endParaRPr/>
          </a:p>
          <a:p>
            <a:pPr algn="ctr">
              <a:defRPr/>
            </a:pPr>
            <a:r>
              <a:rPr>
                <a:latin typeface="Montserrat"/>
              </a:rPr>
              <a:t>J Hemanth - 2420039805</a:t>
            </a:r>
            <a:endParaRPr/>
          </a:p>
        </p:txBody>
      </p:sp>
      <p:sp>
        <p:nvSpPr>
          <p:cNvPr id="2075348049" name="TextBox 1921049423"/>
          <p:cNvSpPr txBox="1"/>
          <p:nvPr/>
        </p:nvSpPr>
        <p:spPr bwMode="auto">
          <a:xfrm>
            <a:off x="4731784" y="1395739"/>
            <a:ext cx="3376364" cy="6551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>
                <a:latin typeface="Montserrat"/>
              </a:rPr>
              <a:t>Faculty : Dr. N. Shirisha </a:t>
            </a:r>
            <a:endParaRPr/>
          </a:p>
          <a:p>
            <a:pPr algn="ctr">
              <a:defRPr/>
            </a:pPr>
            <a:r>
              <a:rPr>
                <a:latin typeface="Montserrat"/>
              </a:rPr>
              <a:t>Associate Professor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979347" name="TextBox 2"/>
          <p:cNvSpPr txBox="1"/>
          <p:nvPr/>
        </p:nvSpPr>
        <p:spPr bwMode="auto">
          <a:xfrm>
            <a:off x="670560" y="254842"/>
            <a:ext cx="112014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4000" b="1" dirty="0">
                <a:solidFill>
                  <a:srgbClr val="000000"/>
                </a:solidFill>
                <a:latin typeface="Montserrat" pitchFamily="2" charset="0"/>
              </a:rPr>
              <a:t>METHODOLOGY</a:t>
            </a:r>
          </a:p>
        </p:txBody>
      </p:sp>
      <p:sp>
        <p:nvSpPr>
          <p:cNvPr id="1380843219" name="Rectangle 3"/>
          <p:cNvSpPr/>
          <p:nvPr/>
        </p:nvSpPr>
        <p:spPr bwMode="auto">
          <a:xfrm>
            <a:off x="670560" y="1084042"/>
            <a:ext cx="10668000" cy="28575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Montserrat"/>
            </a:endParaRPr>
          </a:p>
        </p:txBody>
      </p:sp>
      <p:sp>
        <p:nvSpPr>
          <p:cNvPr id="520821580" name="TextBox 5"/>
          <p:cNvSpPr txBox="1"/>
          <p:nvPr/>
        </p:nvSpPr>
        <p:spPr bwMode="auto">
          <a:xfrm>
            <a:off x="1235363" y="3654116"/>
            <a:ext cx="10287720" cy="354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endParaRPr sz="2400">
              <a:latin typeface="Montserrat"/>
            </a:endParaRPr>
          </a:p>
        </p:txBody>
      </p:sp>
      <p:sp>
        <p:nvSpPr>
          <p:cNvPr id="1559424620" name="TextBox 6"/>
          <p:cNvSpPr txBox="1"/>
          <p:nvPr/>
        </p:nvSpPr>
        <p:spPr bwMode="auto">
          <a:xfrm>
            <a:off x="1235363" y="4623582"/>
            <a:ext cx="10287360" cy="354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endParaRPr sz="2400">
              <a:latin typeface="Montserrat"/>
            </a:endParaRPr>
          </a:p>
        </p:txBody>
      </p:sp>
      <p:sp>
        <p:nvSpPr>
          <p:cNvPr id="2033423197" name="TextBox 7"/>
          <p:cNvSpPr txBox="1"/>
          <p:nvPr/>
        </p:nvSpPr>
        <p:spPr bwMode="auto">
          <a:xfrm>
            <a:off x="1235363" y="5593049"/>
            <a:ext cx="10287720" cy="354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  <a:defRPr/>
            </a:pPr>
            <a:endParaRPr sz="2400">
              <a:latin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1CB99-0BED-4770-D999-08A3A8FB8DF9}"/>
              </a:ext>
            </a:extLst>
          </p:cNvPr>
          <p:cNvSpPr txBox="1"/>
          <p:nvPr/>
        </p:nvSpPr>
        <p:spPr>
          <a:xfrm>
            <a:off x="1006763" y="1553138"/>
            <a:ext cx="307986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01  DATA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7E8A7-31F7-0F28-D127-72CA77441A65}"/>
              </a:ext>
            </a:extLst>
          </p:cNvPr>
          <p:cNvSpPr txBox="1"/>
          <p:nvPr/>
        </p:nvSpPr>
        <p:spPr>
          <a:xfrm>
            <a:off x="4086629" y="1562988"/>
            <a:ext cx="75895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Generate synthetic banking transactions using Python.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A4BED0-F51F-C0ED-64B5-EAA36BB015F0}"/>
              </a:ext>
            </a:extLst>
          </p:cNvPr>
          <p:cNvSpPr txBox="1"/>
          <p:nvPr/>
        </p:nvSpPr>
        <p:spPr>
          <a:xfrm>
            <a:off x="1006763" y="2266370"/>
            <a:ext cx="307986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02  DATA INGESTION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14F513-077F-F864-67ED-3B303A66F50A}"/>
              </a:ext>
            </a:extLst>
          </p:cNvPr>
          <p:cNvSpPr txBox="1"/>
          <p:nvPr/>
        </p:nvSpPr>
        <p:spPr>
          <a:xfrm>
            <a:off x="4086629" y="2276220"/>
            <a:ext cx="75895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Publish transactions continuously to Apache Kafka.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870CFB-0FA4-D489-D868-4C5848F2C755}"/>
              </a:ext>
            </a:extLst>
          </p:cNvPr>
          <p:cNvSpPr txBox="1"/>
          <p:nvPr/>
        </p:nvSpPr>
        <p:spPr>
          <a:xfrm>
            <a:off x="1006763" y="2979602"/>
            <a:ext cx="307986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03  DATA PROCESSING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AC223B-D318-E934-F8F6-3F775ECF31D2}"/>
              </a:ext>
            </a:extLst>
          </p:cNvPr>
          <p:cNvSpPr txBox="1"/>
          <p:nvPr/>
        </p:nvSpPr>
        <p:spPr>
          <a:xfrm>
            <a:off x="4086629" y="2850953"/>
            <a:ext cx="75895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dirty="0">
                <a:solidFill>
                  <a:srgbClr val="6E6E6E"/>
                </a:solidFill>
                <a:latin typeface="Montserrat" pitchFamily="2" charset="0"/>
              </a:rPr>
              <a:t>Use </a:t>
            </a:r>
            <a:r>
              <a:rPr b="0" dirty="0" err="1">
                <a:solidFill>
                  <a:srgbClr val="6E6E6E"/>
                </a:solidFill>
                <a:latin typeface="Montserrat" pitchFamily="2" charset="0"/>
              </a:rPr>
              <a:t>PySpark</a:t>
            </a:r>
            <a:r>
              <a:rPr b="0" dirty="0">
                <a:solidFill>
                  <a:srgbClr val="6E6E6E"/>
                </a:solidFill>
                <a:latin typeface="Montserrat" pitchFamily="2" charset="0"/>
              </a:rPr>
              <a:t> Structured Streaming for validation and transformation.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A9D71D-3905-F8D2-A2A7-BBC0563BF2CA}"/>
              </a:ext>
            </a:extLst>
          </p:cNvPr>
          <p:cNvSpPr txBox="1"/>
          <p:nvPr/>
        </p:nvSpPr>
        <p:spPr>
          <a:xfrm>
            <a:off x="1006763" y="3692834"/>
            <a:ext cx="307986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04  DATA STORAGE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1396AB-C8F6-6E91-A5F1-F8A20F2CAC98}"/>
              </a:ext>
            </a:extLst>
          </p:cNvPr>
          <p:cNvSpPr txBox="1"/>
          <p:nvPr/>
        </p:nvSpPr>
        <p:spPr>
          <a:xfrm>
            <a:off x="4086629" y="3564184"/>
            <a:ext cx="75895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Store valid data in Bronze/Silver Delta layers and invalid data in Quarantine.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18E896-00DF-5427-0052-4590212E585A}"/>
              </a:ext>
            </a:extLst>
          </p:cNvPr>
          <p:cNvSpPr txBox="1"/>
          <p:nvPr/>
        </p:nvSpPr>
        <p:spPr>
          <a:xfrm>
            <a:off x="1006763" y="4406066"/>
            <a:ext cx="307986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05  ANALYTICS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ECF325-E003-D6D9-485C-DB307B646B38}"/>
              </a:ext>
            </a:extLst>
          </p:cNvPr>
          <p:cNvSpPr txBox="1"/>
          <p:nvPr/>
        </p:nvSpPr>
        <p:spPr>
          <a:xfrm>
            <a:off x="4086629" y="4415916"/>
            <a:ext cx="75895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dirty="0">
                <a:solidFill>
                  <a:srgbClr val="6E6E6E"/>
                </a:solidFill>
                <a:latin typeface="Montserrat" pitchFamily="2" charset="0"/>
              </a:rPr>
              <a:t>Calculate anomaly indicators and prepare business-ready data.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7D4C2F-C14D-7B20-5538-6DAB97124B8C}"/>
              </a:ext>
            </a:extLst>
          </p:cNvPr>
          <p:cNvSpPr txBox="1"/>
          <p:nvPr/>
        </p:nvSpPr>
        <p:spPr>
          <a:xfrm>
            <a:off x="1006763" y="5119298"/>
            <a:ext cx="307986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06  OUTPUT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19BCFC-DE64-C13F-E130-654D831C71DA}"/>
              </a:ext>
            </a:extLst>
          </p:cNvPr>
          <p:cNvSpPr txBox="1"/>
          <p:nvPr/>
        </p:nvSpPr>
        <p:spPr>
          <a:xfrm>
            <a:off x="4086629" y="4990648"/>
            <a:ext cx="75895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Use Airflow for Gold processing, SQLite for storage and Power BI for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179717" name="TextBox 1908527671"/>
          <p:cNvSpPr txBox="1"/>
          <p:nvPr/>
        </p:nvSpPr>
        <p:spPr bwMode="auto">
          <a:xfrm>
            <a:off x="710552" y="255864"/>
            <a:ext cx="5274612" cy="71763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r>
              <a:rPr lang="en-IN" sz="4000" b="1" dirty="0">
                <a:solidFill>
                  <a:srgbClr val="000000"/>
                </a:solidFill>
                <a:latin typeface="Montserrat" pitchFamily="2" charset="0"/>
              </a:rPr>
              <a:t>SYSTEM DESIGN</a:t>
            </a:r>
          </a:p>
        </p:txBody>
      </p:sp>
      <p:sp>
        <p:nvSpPr>
          <p:cNvPr id="587607688" name="Rectangle 3"/>
          <p:cNvSpPr/>
          <p:nvPr/>
        </p:nvSpPr>
        <p:spPr bwMode="auto">
          <a:xfrm>
            <a:off x="670560" y="1084042"/>
            <a:ext cx="10668000" cy="28575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Montserrat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C0CB6-4382-2C54-12A2-76249C28474B}"/>
              </a:ext>
            </a:extLst>
          </p:cNvPr>
          <p:cNvSpPr txBox="1"/>
          <p:nvPr/>
        </p:nvSpPr>
        <p:spPr>
          <a:xfrm>
            <a:off x="914400" y="1477863"/>
            <a:ext cx="2331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INPUT LAYER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ACC01-8756-98F4-C3F9-6AD07C284A58}"/>
              </a:ext>
            </a:extLst>
          </p:cNvPr>
          <p:cNvSpPr txBox="1"/>
          <p:nvPr/>
        </p:nvSpPr>
        <p:spPr>
          <a:xfrm>
            <a:off x="3246120" y="1430804"/>
            <a:ext cx="768096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dirty="0">
                <a:solidFill>
                  <a:srgbClr val="6E6E6E"/>
                </a:solidFill>
                <a:latin typeface="Montserrat" pitchFamily="2" charset="0"/>
              </a:rPr>
              <a:t>Python → Kafka</a:t>
            </a:r>
            <a:br>
              <a:rPr sz="2400" dirty="0">
                <a:latin typeface="Montserrat" pitchFamily="2" charset="0"/>
              </a:rPr>
            </a:br>
            <a:r>
              <a:rPr b="0" dirty="0">
                <a:solidFill>
                  <a:srgbClr val="6E6E6E"/>
                </a:solidFill>
                <a:latin typeface="Montserrat" pitchFamily="2" charset="0"/>
              </a:rPr>
              <a:t>Synthetic transaction events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6737B2-DD2F-1F13-88F6-05BED397DF0E}"/>
              </a:ext>
            </a:extLst>
          </p:cNvPr>
          <p:cNvSpPr txBox="1"/>
          <p:nvPr/>
        </p:nvSpPr>
        <p:spPr>
          <a:xfrm>
            <a:off x="914400" y="2208043"/>
            <a:ext cx="23317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PROCESSING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ADB85-13B5-8672-8A6E-79E54EBB6415}"/>
              </a:ext>
            </a:extLst>
          </p:cNvPr>
          <p:cNvSpPr txBox="1"/>
          <p:nvPr/>
        </p:nvSpPr>
        <p:spPr>
          <a:xfrm>
            <a:off x="3246120" y="2299484"/>
            <a:ext cx="768096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PySpark Structured Streaming</a:t>
            </a:r>
            <a:br>
              <a:rPr sz="2400">
                <a:latin typeface="Montserrat" pitchFamily="2" charset="0"/>
              </a:rPr>
            </a:br>
            <a:r>
              <a:rPr b="0">
                <a:solidFill>
                  <a:srgbClr val="6E6E6E"/>
                </a:solidFill>
                <a:latin typeface="Montserrat" pitchFamily="2" charset="0"/>
              </a:rPr>
              <a:t>Schema + validation + transformation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CB1C9-5D9B-0143-72CC-CDFDEB50A130}"/>
              </a:ext>
            </a:extLst>
          </p:cNvPr>
          <p:cNvSpPr txBox="1"/>
          <p:nvPr/>
        </p:nvSpPr>
        <p:spPr>
          <a:xfrm>
            <a:off x="914400" y="3215223"/>
            <a:ext cx="2331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STORAGE LAYER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72AE95-2EF2-469F-77EB-22E8DAD284B8}"/>
              </a:ext>
            </a:extLst>
          </p:cNvPr>
          <p:cNvSpPr txBox="1"/>
          <p:nvPr/>
        </p:nvSpPr>
        <p:spPr>
          <a:xfrm>
            <a:off x="3246120" y="3168164"/>
            <a:ext cx="768096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Bronze / Silver Delta Lake</a:t>
            </a:r>
            <a:br>
              <a:rPr sz="2400">
                <a:latin typeface="Montserrat" pitchFamily="2" charset="0"/>
              </a:rPr>
            </a:br>
            <a:r>
              <a:rPr b="0">
                <a:solidFill>
                  <a:srgbClr val="6E6E6E"/>
                </a:solidFill>
                <a:latin typeface="Montserrat" pitchFamily="2" charset="0"/>
              </a:rPr>
              <a:t>Quarantine for invalid records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5AEFF1-36BE-7975-EE6E-923F3EA18713}"/>
              </a:ext>
            </a:extLst>
          </p:cNvPr>
          <p:cNvSpPr txBox="1"/>
          <p:nvPr/>
        </p:nvSpPr>
        <p:spPr>
          <a:xfrm>
            <a:off x="914400" y="3945404"/>
            <a:ext cx="23317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ORCHESTRATION LAYER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95B0FA-178D-96B0-A3DF-0B6F15D40E58}"/>
              </a:ext>
            </a:extLst>
          </p:cNvPr>
          <p:cNvSpPr txBox="1"/>
          <p:nvPr/>
        </p:nvSpPr>
        <p:spPr>
          <a:xfrm>
            <a:off x="3246120" y="4036844"/>
            <a:ext cx="768096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Apache Airflow</a:t>
            </a:r>
            <a:br>
              <a:rPr sz="2400">
                <a:latin typeface="Montserrat" pitchFamily="2" charset="0"/>
              </a:rPr>
            </a:br>
            <a:r>
              <a:rPr b="0">
                <a:solidFill>
                  <a:srgbClr val="6E6E6E"/>
                </a:solidFill>
                <a:latin typeface="Montserrat" pitchFamily="2" charset="0"/>
              </a:rPr>
              <a:t>Silver-to-Gold workflow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467414-917D-9B84-DF63-83C1515C8B9C}"/>
              </a:ext>
            </a:extLst>
          </p:cNvPr>
          <p:cNvSpPr txBox="1"/>
          <p:nvPr/>
        </p:nvSpPr>
        <p:spPr>
          <a:xfrm>
            <a:off x="914400" y="4814083"/>
            <a:ext cx="23317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PRESENTATION LAYER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664E5C-341F-0A71-3463-483EAD2E321B}"/>
              </a:ext>
            </a:extLst>
          </p:cNvPr>
          <p:cNvSpPr txBox="1"/>
          <p:nvPr/>
        </p:nvSpPr>
        <p:spPr>
          <a:xfrm>
            <a:off x="3246120" y="4905524"/>
            <a:ext cx="768096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SQLite Gold Star Schema</a:t>
            </a:r>
            <a:br>
              <a:rPr sz="2400">
                <a:latin typeface="Montserrat" pitchFamily="2" charset="0"/>
              </a:rPr>
            </a:br>
            <a:r>
              <a:rPr b="0">
                <a:solidFill>
                  <a:srgbClr val="6E6E6E"/>
                </a:solidFill>
                <a:latin typeface="Montserrat" pitchFamily="2" charset="0"/>
              </a:rPr>
              <a:t>Power BI dashboards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639472" name="TextBox 3"/>
          <p:cNvSpPr txBox="1"/>
          <p:nvPr/>
        </p:nvSpPr>
        <p:spPr bwMode="auto">
          <a:xfrm>
            <a:off x="560830" y="290340"/>
            <a:ext cx="1121183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sz="4000" b="1" dirty="0">
                <a:latin typeface="Montserrat"/>
                <a:ea typeface="Montserrat"/>
                <a:cs typeface="Montserrat"/>
              </a:rPr>
              <a:t>System Architecture</a:t>
            </a:r>
            <a:endParaRPr sz="4400" b="1" dirty="0">
              <a:latin typeface="Montserrat"/>
              <a:cs typeface="Montserrat"/>
            </a:endParaRPr>
          </a:p>
        </p:txBody>
      </p:sp>
      <p:sp>
        <p:nvSpPr>
          <p:cNvPr id="1678796799" name="TextBox 5"/>
          <p:cNvSpPr txBox="1"/>
          <p:nvPr/>
        </p:nvSpPr>
        <p:spPr bwMode="auto">
          <a:xfrm>
            <a:off x="761998" y="1064413"/>
            <a:ext cx="4790956" cy="274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endParaRPr>
              <a:latin typeface="Montserrat"/>
            </a:endParaRPr>
          </a:p>
        </p:txBody>
      </p:sp>
      <p:sp>
        <p:nvSpPr>
          <p:cNvPr id="653131445" name="TextBox 8"/>
          <p:cNvSpPr txBox="1"/>
          <p:nvPr/>
        </p:nvSpPr>
        <p:spPr bwMode="auto">
          <a:xfrm>
            <a:off x="1143000" y="4115097"/>
            <a:ext cx="4667608" cy="335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8"/>
              </a:lnSpc>
              <a:defRPr/>
            </a:pPr>
            <a:endParaRPr>
              <a:latin typeface="Montserrat"/>
            </a:endParaRPr>
          </a:p>
        </p:txBody>
      </p:sp>
      <p:sp>
        <p:nvSpPr>
          <p:cNvPr id="272274488" name="TextBox 9"/>
          <p:cNvSpPr txBox="1"/>
          <p:nvPr/>
        </p:nvSpPr>
        <p:spPr bwMode="auto">
          <a:xfrm>
            <a:off x="1143000" y="5450232"/>
            <a:ext cx="4667608" cy="335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8"/>
              </a:lnSpc>
              <a:defRPr/>
            </a:pPr>
            <a:endParaRPr>
              <a:latin typeface="Montserrat"/>
            </a:endParaRPr>
          </a:p>
        </p:txBody>
      </p:sp>
      <p:sp>
        <p:nvSpPr>
          <p:cNvPr id="1708776231" name="TextBox 10"/>
          <p:cNvSpPr txBox="1"/>
          <p:nvPr/>
        </p:nvSpPr>
        <p:spPr bwMode="auto">
          <a:xfrm>
            <a:off x="6762748" y="4115097"/>
            <a:ext cx="4667608" cy="335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8"/>
              </a:lnSpc>
              <a:defRPr/>
            </a:pPr>
            <a:endParaRPr>
              <a:latin typeface="Montserrat"/>
            </a:endParaRPr>
          </a:p>
        </p:txBody>
      </p:sp>
      <p:sp>
        <p:nvSpPr>
          <p:cNvPr id="1775688052" name="TextBox 11"/>
          <p:cNvSpPr txBox="1"/>
          <p:nvPr/>
        </p:nvSpPr>
        <p:spPr bwMode="auto">
          <a:xfrm>
            <a:off x="6762748" y="5450232"/>
            <a:ext cx="4667608" cy="335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8"/>
              </a:lnSpc>
              <a:defRPr/>
            </a:pPr>
            <a:endParaRPr>
              <a:latin typeface="Montserrat"/>
            </a:endParaRPr>
          </a:p>
        </p:txBody>
      </p:sp>
      <p:sp>
        <p:nvSpPr>
          <p:cNvPr id="182589584" name="Rectangle 3"/>
          <p:cNvSpPr/>
          <p:nvPr/>
        </p:nvSpPr>
        <p:spPr bwMode="auto">
          <a:xfrm>
            <a:off x="560830" y="1008328"/>
            <a:ext cx="10667999" cy="28575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99540F-DC11-8658-6AB5-F4074F793F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30"/>
          <a:stretch>
            <a:fillRect/>
          </a:stretch>
        </p:blipFill>
        <p:spPr>
          <a:xfrm>
            <a:off x="0" y="2140361"/>
            <a:ext cx="12124466" cy="3434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18D008-47D7-F7A7-D42D-585FA09D688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604334" name="TextBox 739767261">
            <a:extLst>
              <a:ext uri="{FF2B5EF4-FFF2-40B4-BE49-F238E27FC236}">
                <a16:creationId xmlns:a16="http://schemas.microsoft.com/office/drawing/2014/main" id="{A6BF147E-5E5E-3030-0703-8F0486CAB3AE}"/>
              </a:ext>
            </a:extLst>
          </p:cNvPr>
          <p:cNvSpPr txBox="1"/>
          <p:nvPr/>
        </p:nvSpPr>
        <p:spPr bwMode="auto">
          <a:xfrm>
            <a:off x="385064" y="318955"/>
            <a:ext cx="12370354" cy="6551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Montserrat" pitchFamily="2" charset="0"/>
              </a:rPr>
              <a:t>USE OF MODERN TOOLS AND TECHNOLOGIES</a:t>
            </a:r>
          </a:p>
        </p:txBody>
      </p:sp>
      <p:sp>
        <p:nvSpPr>
          <p:cNvPr id="438249054" name="Rectangle 3">
            <a:extLst>
              <a:ext uri="{FF2B5EF4-FFF2-40B4-BE49-F238E27FC236}">
                <a16:creationId xmlns:a16="http://schemas.microsoft.com/office/drawing/2014/main" id="{32512511-5094-FA6B-92BE-A114374D7B5A}"/>
              </a:ext>
            </a:extLst>
          </p:cNvPr>
          <p:cNvSpPr/>
          <p:nvPr/>
        </p:nvSpPr>
        <p:spPr bwMode="auto">
          <a:xfrm>
            <a:off x="670560" y="1084042"/>
            <a:ext cx="10668000" cy="28575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Montserrat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D654C-2619-2291-1165-2F04547E12DB}"/>
              </a:ext>
            </a:extLst>
          </p:cNvPr>
          <p:cNvSpPr txBox="1"/>
          <p:nvPr/>
        </p:nvSpPr>
        <p:spPr>
          <a:xfrm>
            <a:off x="1219200" y="1574502"/>
            <a:ext cx="2560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CE785-5AEF-45D6-2764-A0AF694F608C}"/>
              </a:ext>
            </a:extLst>
          </p:cNvPr>
          <p:cNvSpPr txBox="1"/>
          <p:nvPr/>
        </p:nvSpPr>
        <p:spPr>
          <a:xfrm>
            <a:off x="3779520" y="1620222"/>
            <a:ext cx="7132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 dirty="0">
                <a:solidFill>
                  <a:srgbClr val="6E6E6E"/>
                </a:solidFill>
                <a:latin typeface="Montserrat" pitchFamily="2" charset="0"/>
              </a:rPr>
              <a:t>Synthetic transaction generation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6AC2D-2494-EEF1-68B7-AD59225A34EB}"/>
              </a:ext>
            </a:extLst>
          </p:cNvPr>
          <p:cNvSpPr txBox="1"/>
          <p:nvPr/>
        </p:nvSpPr>
        <p:spPr>
          <a:xfrm>
            <a:off x="1219200" y="2306022"/>
            <a:ext cx="2560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APACHE KAFKA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05483E-0C3C-9D78-CCB6-D801EF5DE164}"/>
              </a:ext>
            </a:extLst>
          </p:cNvPr>
          <p:cNvSpPr txBox="1"/>
          <p:nvPr/>
        </p:nvSpPr>
        <p:spPr>
          <a:xfrm>
            <a:off x="3779520" y="2351742"/>
            <a:ext cx="7132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Real-time event streaming and buffering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FF80C-B342-4199-8BBF-6925A734239C}"/>
              </a:ext>
            </a:extLst>
          </p:cNvPr>
          <p:cNvSpPr txBox="1"/>
          <p:nvPr/>
        </p:nvSpPr>
        <p:spPr>
          <a:xfrm>
            <a:off x="1219200" y="3037542"/>
            <a:ext cx="2560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PYSPARK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6727F9-F2DE-A4C8-F64F-5E9A0CDC727A}"/>
              </a:ext>
            </a:extLst>
          </p:cNvPr>
          <p:cNvSpPr txBox="1"/>
          <p:nvPr/>
        </p:nvSpPr>
        <p:spPr>
          <a:xfrm>
            <a:off x="3779520" y="3083262"/>
            <a:ext cx="7132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Structured streaming, validation and transformation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D0F902-6E61-D95A-4168-C041706E94E5}"/>
              </a:ext>
            </a:extLst>
          </p:cNvPr>
          <p:cNvSpPr txBox="1"/>
          <p:nvPr/>
        </p:nvSpPr>
        <p:spPr>
          <a:xfrm>
            <a:off x="1219200" y="3769062"/>
            <a:ext cx="2560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DELTA LAKE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17095-DFDD-91B0-4055-0D5FD01BAA18}"/>
              </a:ext>
            </a:extLst>
          </p:cNvPr>
          <p:cNvSpPr txBox="1"/>
          <p:nvPr/>
        </p:nvSpPr>
        <p:spPr>
          <a:xfrm>
            <a:off x="3779520" y="3814782"/>
            <a:ext cx="7132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Reliable Bronze and Silver storage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FA2D6-DF8B-249C-00F0-BE5B378FA66A}"/>
              </a:ext>
            </a:extLst>
          </p:cNvPr>
          <p:cNvSpPr txBox="1"/>
          <p:nvPr/>
        </p:nvSpPr>
        <p:spPr>
          <a:xfrm>
            <a:off x="1219200" y="4500582"/>
            <a:ext cx="2560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AIRFLOW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0B7F26-0FA7-351C-C4CF-2434EF5FBBFE}"/>
              </a:ext>
            </a:extLst>
          </p:cNvPr>
          <p:cNvSpPr txBox="1"/>
          <p:nvPr/>
        </p:nvSpPr>
        <p:spPr>
          <a:xfrm>
            <a:off x="3779520" y="4546302"/>
            <a:ext cx="7132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Workflow orchestration and task management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DB9027-7977-A770-FE27-1C696C13DCDE}"/>
              </a:ext>
            </a:extLst>
          </p:cNvPr>
          <p:cNvSpPr txBox="1"/>
          <p:nvPr/>
        </p:nvSpPr>
        <p:spPr>
          <a:xfrm>
            <a:off x="1219200" y="5232102"/>
            <a:ext cx="2560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000000"/>
                </a:solidFill>
                <a:latin typeface="Montserrat" pitchFamily="2" charset="0"/>
              </a:rPr>
              <a:t>SQLITE + POWER BI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12BB6E-A231-949F-163A-1F31D6120FA2}"/>
              </a:ext>
            </a:extLst>
          </p:cNvPr>
          <p:cNvSpPr txBox="1"/>
          <p:nvPr/>
        </p:nvSpPr>
        <p:spPr>
          <a:xfrm>
            <a:off x="3779520" y="5277822"/>
            <a:ext cx="71323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0">
                <a:solidFill>
                  <a:srgbClr val="6E6E6E"/>
                </a:solidFill>
                <a:latin typeface="Montserrat" pitchFamily="2" charset="0"/>
              </a:rPr>
              <a:t>Gold analytics storage and business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48848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963147" name="TextBox 650875185"/>
          <p:cNvSpPr txBox="1"/>
          <p:nvPr/>
        </p:nvSpPr>
        <p:spPr bwMode="auto">
          <a:xfrm>
            <a:off x="3906225" y="2057400"/>
            <a:ext cx="184731" cy="717632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endParaRPr sz="4000">
              <a:latin typeface="Montserrat"/>
              <a:cs typeface="Helvetica"/>
            </a:endParaRPr>
          </a:p>
        </p:txBody>
      </p:sp>
      <p:sp>
        <p:nvSpPr>
          <p:cNvPr id="1284655839" name="TextBox 1042091765"/>
          <p:cNvSpPr txBox="1"/>
          <p:nvPr/>
        </p:nvSpPr>
        <p:spPr bwMode="auto">
          <a:xfrm>
            <a:off x="2473367" y="1819585"/>
            <a:ext cx="7245265" cy="321883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10000" b="1">
                <a:latin typeface="Montserrat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228</Words>
  <Application>Microsoft Office PowerPoint</Application>
  <PresentationFormat>Widescreen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Raghu Nandan Bheema</dc:creator>
  <cp:keywords/>
  <dc:description>generated using python-pptx</dc:description>
  <cp:lastModifiedBy>Raghu Nandan Bheema</cp:lastModifiedBy>
  <cp:revision>13</cp:revision>
  <dcterms:created xsi:type="dcterms:W3CDTF">2013-01-27T09:14:16Z</dcterms:created>
  <dcterms:modified xsi:type="dcterms:W3CDTF">2026-09-16T03:18:46Z</dcterms:modified>
  <cp:category/>
</cp:coreProperties>
</file>