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63" r:id="rId5"/>
    <p:sldId id="266" r:id="rId6"/>
    <p:sldId id="267" r:id="rId7"/>
    <p:sldId id="268" r:id="rId8"/>
    <p:sldId id="274" r:id="rId9"/>
    <p:sldId id="269" r:id="rId10"/>
    <p:sldId id="270" r:id="rId11"/>
    <p:sldId id="271" r:id="rId12"/>
    <p:sldId id="272" r:id="rId13"/>
    <p:sldId id="273" r:id="rId14"/>
    <p:sldId id="264" r:id="rId15"/>
  </p:sldIdLst>
  <p:sldSz cx="12192000" cy="6858000"/>
  <p:notesSz cx="6858000" cy="9144000"/>
  <p:defaultText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fill>
          <a:solidFill>
            <a:schemeClr val="accent1">
              <a:tint val="40000"/>
            </a:schemeClr>
          </a:solidFill>
        </a:fill>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512" y="5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319638144"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1941120992"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973136472"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376633507"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1002094651"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1620099170"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82813917" name="Slide Image Placeholder 1"/>
          <p:cNvSpPr>
            <a:spLocks noGrp="1" noRot="1" noChangeAspect="1"/>
          </p:cNvSpPr>
          <p:nvPr>
            <p:ph type="sldImg"/>
          </p:nvPr>
        </p:nvSpPr>
        <p:spPr bwMode="auto"/>
        <p:txBody>
          <a:bodyPr/>
          <a:lstStyle/>
          <a:p>
            <a:endParaRPr lang="en-IN"/>
          </a:p>
        </p:txBody>
      </p:sp>
      <p:sp>
        <p:nvSpPr>
          <p:cNvPr id="380149007" name="Notes Placeholder 2"/>
          <p:cNvSpPr>
            <a:spLocks noGrp="1"/>
          </p:cNvSpPr>
          <p:nvPr>
            <p:ph type="body" idx="1"/>
          </p:nvPr>
        </p:nvSpPr>
        <p:spPr bwMode="auto"/>
        <p:txBody>
          <a:bodyPr/>
          <a:lstStyle/>
          <a:p>
            <a:pPr>
              <a:defRPr/>
            </a:pPr>
            <a:endParaRPr/>
          </a:p>
        </p:txBody>
      </p:sp>
      <p:sp>
        <p:nvSpPr>
          <p:cNvPr id="124601894" name="Slide Number Placeholder 3"/>
          <p:cNvSpPr>
            <a:spLocks noGrp="1"/>
          </p:cNvSpPr>
          <p:nvPr>
            <p:ph type="sldNum" sz="quarter" idx="10"/>
          </p:nvPr>
        </p:nvSpPr>
        <p:spPr bwMode="auto"/>
        <p:txBody>
          <a:bodyPr/>
          <a:lstStyle/>
          <a:p>
            <a:pPr>
              <a:defRPr/>
            </a:pPr>
            <a:fld id="{FF64F6A9-F91A-0AF6-6B81-CE69EF893558}" type="slidenum">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79394442" name="Slide Image Placeholder 1"/>
          <p:cNvSpPr>
            <a:spLocks noGrp="1" noRot="1" noChangeAspect="1"/>
          </p:cNvSpPr>
          <p:nvPr>
            <p:ph type="sldImg"/>
          </p:nvPr>
        </p:nvSpPr>
        <p:spPr bwMode="auto"/>
        <p:txBody>
          <a:bodyPr/>
          <a:lstStyle/>
          <a:p>
            <a:endParaRPr lang="en-IN"/>
          </a:p>
        </p:txBody>
      </p:sp>
      <p:sp>
        <p:nvSpPr>
          <p:cNvPr id="2136474527" name="Notes Placeholder 2"/>
          <p:cNvSpPr>
            <a:spLocks noGrp="1"/>
          </p:cNvSpPr>
          <p:nvPr>
            <p:ph type="body" idx="1"/>
          </p:nvPr>
        </p:nvSpPr>
        <p:spPr bwMode="auto"/>
        <p:txBody>
          <a:bodyPr/>
          <a:lstStyle/>
          <a:p>
            <a:pPr>
              <a:defRPr/>
            </a:pPr>
            <a:endParaRPr/>
          </a:p>
        </p:txBody>
      </p:sp>
      <p:sp>
        <p:nvSpPr>
          <p:cNvPr id="532090276" name="Slide Number Placeholder 3"/>
          <p:cNvSpPr>
            <a:spLocks noGrp="1"/>
          </p:cNvSpPr>
          <p:nvPr>
            <p:ph type="sldNum" sz="quarter" idx="10"/>
          </p:nvPr>
        </p:nvSpPr>
        <p:spPr bwMode="auto"/>
        <p:txBody>
          <a:bodyPr/>
          <a:lstStyle/>
          <a:p>
            <a:pPr>
              <a:defRPr/>
            </a:pPr>
            <a:fld id="{F8278753-E986-EF3A-5147-A1E61DFDE860}"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25164473" name="Slide Image Placeholder 1"/>
          <p:cNvSpPr>
            <a:spLocks noGrp="1" noRot="1" noChangeAspect="1"/>
          </p:cNvSpPr>
          <p:nvPr>
            <p:ph type="sldImg"/>
          </p:nvPr>
        </p:nvSpPr>
        <p:spPr bwMode="auto"/>
        <p:txBody>
          <a:bodyPr/>
          <a:lstStyle/>
          <a:p>
            <a:endParaRPr lang="en-IN"/>
          </a:p>
        </p:txBody>
      </p:sp>
      <p:sp>
        <p:nvSpPr>
          <p:cNvPr id="1844996173" name="Notes Placeholder 2"/>
          <p:cNvSpPr>
            <a:spLocks noGrp="1"/>
          </p:cNvSpPr>
          <p:nvPr>
            <p:ph type="body" idx="1"/>
          </p:nvPr>
        </p:nvSpPr>
        <p:spPr bwMode="auto"/>
        <p:txBody>
          <a:bodyPr/>
          <a:lstStyle/>
          <a:p>
            <a:pPr>
              <a:defRPr/>
            </a:pPr>
            <a:endParaRPr/>
          </a:p>
        </p:txBody>
      </p:sp>
      <p:sp>
        <p:nvSpPr>
          <p:cNvPr id="751449038" name="Slide Number Placeholder 3"/>
          <p:cNvSpPr>
            <a:spLocks noGrp="1"/>
          </p:cNvSpPr>
          <p:nvPr>
            <p:ph type="sldNum" sz="quarter" idx="10"/>
          </p:nvPr>
        </p:nvSpPr>
        <p:spPr bwMode="auto"/>
        <p:txBody>
          <a:bodyPr/>
          <a:lstStyle/>
          <a:p>
            <a:pPr>
              <a:defRPr/>
            </a:pPr>
            <a:fld id="{27354570-B9C7-D3CC-0627-96F1E279EC67}" type="slidenum">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85334857" name="Slide Image Placeholder 1"/>
          <p:cNvSpPr>
            <a:spLocks noGrp="1" noRot="1" noChangeAspect="1"/>
          </p:cNvSpPr>
          <p:nvPr>
            <p:ph type="sldImg"/>
          </p:nvPr>
        </p:nvSpPr>
        <p:spPr bwMode="auto"/>
        <p:txBody>
          <a:bodyPr/>
          <a:lstStyle/>
          <a:p>
            <a:endParaRPr lang="en-IN"/>
          </a:p>
        </p:txBody>
      </p:sp>
      <p:sp>
        <p:nvSpPr>
          <p:cNvPr id="1328871556" name="Notes Placeholder 2"/>
          <p:cNvSpPr>
            <a:spLocks noGrp="1"/>
          </p:cNvSpPr>
          <p:nvPr>
            <p:ph type="body" idx="1"/>
          </p:nvPr>
        </p:nvSpPr>
        <p:spPr bwMode="auto"/>
        <p:txBody>
          <a:bodyPr/>
          <a:lstStyle/>
          <a:p>
            <a:pPr>
              <a:defRPr/>
            </a:pPr>
            <a:endParaRPr/>
          </a:p>
        </p:txBody>
      </p:sp>
      <p:sp>
        <p:nvSpPr>
          <p:cNvPr id="1664992806" name="Slide Number Placeholder 3"/>
          <p:cNvSpPr>
            <a:spLocks noGrp="1"/>
          </p:cNvSpPr>
          <p:nvPr>
            <p:ph type="sldNum" sz="quarter" idx="10"/>
          </p:nvPr>
        </p:nvSpPr>
        <p:spPr bwMode="auto"/>
        <p:txBody>
          <a:bodyPr/>
          <a:lstStyle/>
          <a:p>
            <a:pPr>
              <a:defRPr/>
            </a:pPr>
            <a:fld id="{3DBBD513-914D-7D35-7016-84FCB35D661D}" type="slidenum">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BA209-953F-E218-2B77-E0E817DB8B1D}"/>
            </a:ext>
          </a:extLst>
        </p:cNvPr>
        <p:cNvGrpSpPr/>
        <p:nvPr/>
      </p:nvGrpSpPr>
      <p:grpSpPr bwMode="auto">
        <a:xfrm>
          <a:off x="0" y="0"/>
          <a:ext cx="0" cy="0"/>
          <a:chOff x="0" y="0"/>
          <a:chExt cx="0" cy="0"/>
        </a:xfrm>
      </p:grpSpPr>
      <p:sp>
        <p:nvSpPr>
          <p:cNvPr id="1077074429" name="Slide Image Placeholder 1">
            <a:extLst>
              <a:ext uri="{FF2B5EF4-FFF2-40B4-BE49-F238E27FC236}">
                <a16:creationId xmlns:a16="http://schemas.microsoft.com/office/drawing/2014/main" id="{FC8350ED-225E-4AF3-AE84-30BAB8F0D414}"/>
              </a:ext>
            </a:extLst>
          </p:cNvPr>
          <p:cNvSpPr>
            <a:spLocks noGrp="1" noRot="1" noChangeAspect="1"/>
          </p:cNvSpPr>
          <p:nvPr>
            <p:ph type="sldImg"/>
          </p:nvPr>
        </p:nvSpPr>
        <p:spPr bwMode="auto"/>
        <p:txBody>
          <a:bodyPr/>
          <a:lstStyle/>
          <a:p>
            <a:endParaRPr lang="en-IN"/>
          </a:p>
        </p:txBody>
      </p:sp>
      <p:sp>
        <p:nvSpPr>
          <p:cNvPr id="146906740" name="Notes Placeholder 2">
            <a:extLst>
              <a:ext uri="{FF2B5EF4-FFF2-40B4-BE49-F238E27FC236}">
                <a16:creationId xmlns:a16="http://schemas.microsoft.com/office/drawing/2014/main" id="{4B619B09-FC9C-D096-ABAA-5F5E0D6309A1}"/>
              </a:ext>
            </a:extLst>
          </p:cNvPr>
          <p:cNvSpPr>
            <a:spLocks noGrp="1"/>
          </p:cNvSpPr>
          <p:nvPr>
            <p:ph type="body" idx="1"/>
          </p:nvPr>
        </p:nvSpPr>
        <p:spPr bwMode="auto"/>
        <p:txBody>
          <a:bodyPr/>
          <a:lstStyle/>
          <a:p>
            <a:pPr>
              <a:defRPr/>
            </a:pPr>
            <a:endParaRPr/>
          </a:p>
        </p:txBody>
      </p:sp>
      <p:sp>
        <p:nvSpPr>
          <p:cNvPr id="461601863" name="Slide Number Placeholder 3">
            <a:extLst>
              <a:ext uri="{FF2B5EF4-FFF2-40B4-BE49-F238E27FC236}">
                <a16:creationId xmlns:a16="http://schemas.microsoft.com/office/drawing/2014/main" id="{8B196C99-CC33-1FCC-3278-8D7EE184C977}"/>
              </a:ext>
            </a:extLst>
          </p:cNvPr>
          <p:cNvSpPr>
            <a:spLocks noGrp="1"/>
          </p:cNvSpPr>
          <p:nvPr>
            <p:ph type="sldNum" sz="quarter" idx="10"/>
          </p:nvPr>
        </p:nvSpPr>
        <p:spPr bwMode="auto"/>
        <p:txBody>
          <a:bodyPr/>
          <a:lstStyle/>
          <a:p>
            <a:pPr>
              <a:defRPr/>
            </a:pPr>
            <a:fld id="{58ACF463-F719-1DDE-2239-EF211281D24C}" type="slidenum">
              <a:rPr/>
              <a:t>5</a:t>
            </a:fld>
            <a:endParaRPr/>
          </a:p>
        </p:txBody>
      </p:sp>
    </p:spTree>
    <p:extLst>
      <p:ext uri="{BB962C8B-B14F-4D97-AF65-F5344CB8AC3E}">
        <p14:creationId xmlns:p14="http://schemas.microsoft.com/office/powerpoint/2010/main" val="18447305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66C5C-4EF4-C107-CAD6-68FC699B0CB5}"/>
            </a:ext>
          </a:extLst>
        </p:cNvPr>
        <p:cNvGrpSpPr/>
        <p:nvPr/>
      </p:nvGrpSpPr>
      <p:grpSpPr bwMode="auto">
        <a:xfrm>
          <a:off x="0" y="0"/>
          <a:ext cx="0" cy="0"/>
          <a:chOff x="0" y="0"/>
          <a:chExt cx="0" cy="0"/>
        </a:xfrm>
      </p:grpSpPr>
      <p:sp>
        <p:nvSpPr>
          <p:cNvPr id="1077074429" name="Slide Image Placeholder 1">
            <a:extLst>
              <a:ext uri="{FF2B5EF4-FFF2-40B4-BE49-F238E27FC236}">
                <a16:creationId xmlns:a16="http://schemas.microsoft.com/office/drawing/2014/main" id="{92618FB5-231C-470F-0D22-CE0C58481884}"/>
              </a:ext>
            </a:extLst>
          </p:cNvPr>
          <p:cNvSpPr>
            <a:spLocks noGrp="1" noRot="1" noChangeAspect="1"/>
          </p:cNvSpPr>
          <p:nvPr>
            <p:ph type="sldImg"/>
          </p:nvPr>
        </p:nvSpPr>
        <p:spPr bwMode="auto"/>
        <p:txBody>
          <a:bodyPr/>
          <a:lstStyle/>
          <a:p>
            <a:endParaRPr lang="en-IN"/>
          </a:p>
        </p:txBody>
      </p:sp>
      <p:sp>
        <p:nvSpPr>
          <p:cNvPr id="146906740" name="Notes Placeholder 2">
            <a:extLst>
              <a:ext uri="{FF2B5EF4-FFF2-40B4-BE49-F238E27FC236}">
                <a16:creationId xmlns:a16="http://schemas.microsoft.com/office/drawing/2014/main" id="{00299627-BEF6-BB10-FEBD-3613DB63DB6A}"/>
              </a:ext>
            </a:extLst>
          </p:cNvPr>
          <p:cNvSpPr>
            <a:spLocks noGrp="1"/>
          </p:cNvSpPr>
          <p:nvPr>
            <p:ph type="body" idx="1"/>
          </p:nvPr>
        </p:nvSpPr>
        <p:spPr bwMode="auto"/>
        <p:txBody>
          <a:bodyPr/>
          <a:lstStyle/>
          <a:p>
            <a:pPr>
              <a:defRPr/>
            </a:pPr>
            <a:endParaRPr/>
          </a:p>
        </p:txBody>
      </p:sp>
      <p:sp>
        <p:nvSpPr>
          <p:cNvPr id="461601863" name="Slide Number Placeholder 3">
            <a:extLst>
              <a:ext uri="{FF2B5EF4-FFF2-40B4-BE49-F238E27FC236}">
                <a16:creationId xmlns:a16="http://schemas.microsoft.com/office/drawing/2014/main" id="{525C05DC-4174-0F31-0764-194B90B26532}"/>
              </a:ext>
            </a:extLst>
          </p:cNvPr>
          <p:cNvSpPr>
            <a:spLocks noGrp="1"/>
          </p:cNvSpPr>
          <p:nvPr>
            <p:ph type="sldNum" sz="quarter" idx="10"/>
          </p:nvPr>
        </p:nvSpPr>
        <p:spPr bwMode="auto"/>
        <p:txBody>
          <a:bodyPr/>
          <a:lstStyle/>
          <a:p>
            <a:pPr>
              <a:defRPr/>
            </a:pPr>
            <a:fld id="{58ACF463-F719-1DDE-2239-EF211281D24C}" type="slidenum">
              <a:rPr/>
              <a:t>6</a:t>
            </a:fld>
            <a:endParaRPr/>
          </a:p>
        </p:txBody>
      </p:sp>
    </p:spTree>
    <p:extLst>
      <p:ext uri="{BB962C8B-B14F-4D97-AF65-F5344CB8AC3E}">
        <p14:creationId xmlns:p14="http://schemas.microsoft.com/office/powerpoint/2010/main" val="15093496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A52D0-CE1B-D771-1D99-9010B4A2FEAA}"/>
            </a:ext>
          </a:extLst>
        </p:cNvPr>
        <p:cNvGrpSpPr/>
        <p:nvPr/>
      </p:nvGrpSpPr>
      <p:grpSpPr bwMode="auto">
        <a:xfrm>
          <a:off x="0" y="0"/>
          <a:ext cx="0" cy="0"/>
          <a:chOff x="0" y="0"/>
          <a:chExt cx="0" cy="0"/>
        </a:xfrm>
      </p:grpSpPr>
      <p:sp>
        <p:nvSpPr>
          <p:cNvPr id="1077074429" name="Slide Image Placeholder 1">
            <a:extLst>
              <a:ext uri="{FF2B5EF4-FFF2-40B4-BE49-F238E27FC236}">
                <a16:creationId xmlns:a16="http://schemas.microsoft.com/office/drawing/2014/main" id="{E8F0B7C0-EE98-ED7C-78EE-846B9E1A3E17}"/>
              </a:ext>
            </a:extLst>
          </p:cNvPr>
          <p:cNvSpPr>
            <a:spLocks noGrp="1" noRot="1" noChangeAspect="1"/>
          </p:cNvSpPr>
          <p:nvPr>
            <p:ph type="sldImg"/>
          </p:nvPr>
        </p:nvSpPr>
        <p:spPr bwMode="auto"/>
        <p:txBody>
          <a:bodyPr/>
          <a:lstStyle/>
          <a:p>
            <a:endParaRPr lang="en-IN"/>
          </a:p>
        </p:txBody>
      </p:sp>
      <p:sp>
        <p:nvSpPr>
          <p:cNvPr id="146906740" name="Notes Placeholder 2">
            <a:extLst>
              <a:ext uri="{FF2B5EF4-FFF2-40B4-BE49-F238E27FC236}">
                <a16:creationId xmlns:a16="http://schemas.microsoft.com/office/drawing/2014/main" id="{185C2E8C-7748-175C-58D2-07C9362C755A}"/>
              </a:ext>
            </a:extLst>
          </p:cNvPr>
          <p:cNvSpPr>
            <a:spLocks noGrp="1"/>
          </p:cNvSpPr>
          <p:nvPr>
            <p:ph type="body" idx="1"/>
          </p:nvPr>
        </p:nvSpPr>
        <p:spPr bwMode="auto"/>
        <p:txBody>
          <a:bodyPr/>
          <a:lstStyle/>
          <a:p>
            <a:pPr>
              <a:defRPr/>
            </a:pPr>
            <a:endParaRPr/>
          </a:p>
        </p:txBody>
      </p:sp>
      <p:sp>
        <p:nvSpPr>
          <p:cNvPr id="461601863" name="Slide Number Placeholder 3">
            <a:extLst>
              <a:ext uri="{FF2B5EF4-FFF2-40B4-BE49-F238E27FC236}">
                <a16:creationId xmlns:a16="http://schemas.microsoft.com/office/drawing/2014/main" id="{A1AA1F22-D246-6F3F-936D-696C64BC66B9}"/>
              </a:ext>
            </a:extLst>
          </p:cNvPr>
          <p:cNvSpPr>
            <a:spLocks noGrp="1"/>
          </p:cNvSpPr>
          <p:nvPr>
            <p:ph type="sldNum" sz="quarter" idx="10"/>
          </p:nvPr>
        </p:nvSpPr>
        <p:spPr bwMode="auto"/>
        <p:txBody>
          <a:bodyPr/>
          <a:lstStyle/>
          <a:p>
            <a:pPr>
              <a:defRPr/>
            </a:pPr>
            <a:fld id="{58ACF463-F719-1DDE-2239-EF211281D24C}" type="slidenum">
              <a:rPr/>
              <a:t>7</a:t>
            </a:fld>
            <a:endParaRPr/>
          </a:p>
        </p:txBody>
      </p:sp>
    </p:spTree>
    <p:extLst>
      <p:ext uri="{BB962C8B-B14F-4D97-AF65-F5344CB8AC3E}">
        <p14:creationId xmlns:p14="http://schemas.microsoft.com/office/powerpoint/2010/main" val="11711374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BD959-1E3E-AE4A-017F-74BECFB9B9D6}"/>
            </a:ext>
          </a:extLst>
        </p:cNvPr>
        <p:cNvGrpSpPr/>
        <p:nvPr/>
      </p:nvGrpSpPr>
      <p:grpSpPr bwMode="auto">
        <a:xfrm>
          <a:off x="0" y="0"/>
          <a:ext cx="0" cy="0"/>
          <a:chOff x="0" y="0"/>
          <a:chExt cx="0" cy="0"/>
        </a:xfrm>
      </p:grpSpPr>
      <p:sp>
        <p:nvSpPr>
          <p:cNvPr id="1077074429" name="Slide Image Placeholder 1">
            <a:extLst>
              <a:ext uri="{FF2B5EF4-FFF2-40B4-BE49-F238E27FC236}">
                <a16:creationId xmlns:a16="http://schemas.microsoft.com/office/drawing/2014/main" id="{2570F9D1-3B57-0C74-8088-DCF8EB854B4F}"/>
              </a:ext>
            </a:extLst>
          </p:cNvPr>
          <p:cNvSpPr>
            <a:spLocks noGrp="1" noRot="1" noChangeAspect="1"/>
          </p:cNvSpPr>
          <p:nvPr>
            <p:ph type="sldImg"/>
          </p:nvPr>
        </p:nvSpPr>
        <p:spPr bwMode="auto"/>
        <p:txBody>
          <a:bodyPr/>
          <a:lstStyle/>
          <a:p>
            <a:endParaRPr lang="en-IN"/>
          </a:p>
        </p:txBody>
      </p:sp>
      <p:sp>
        <p:nvSpPr>
          <p:cNvPr id="146906740" name="Notes Placeholder 2">
            <a:extLst>
              <a:ext uri="{FF2B5EF4-FFF2-40B4-BE49-F238E27FC236}">
                <a16:creationId xmlns:a16="http://schemas.microsoft.com/office/drawing/2014/main" id="{3839189D-DDB4-105C-6862-8A32A27F57C0}"/>
              </a:ext>
            </a:extLst>
          </p:cNvPr>
          <p:cNvSpPr>
            <a:spLocks noGrp="1"/>
          </p:cNvSpPr>
          <p:nvPr>
            <p:ph type="body" idx="1"/>
          </p:nvPr>
        </p:nvSpPr>
        <p:spPr bwMode="auto"/>
        <p:txBody>
          <a:bodyPr/>
          <a:lstStyle/>
          <a:p>
            <a:pPr>
              <a:defRPr/>
            </a:pPr>
            <a:endParaRPr/>
          </a:p>
        </p:txBody>
      </p:sp>
      <p:sp>
        <p:nvSpPr>
          <p:cNvPr id="461601863" name="Slide Number Placeholder 3">
            <a:extLst>
              <a:ext uri="{FF2B5EF4-FFF2-40B4-BE49-F238E27FC236}">
                <a16:creationId xmlns:a16="http://schemas.microsoft.com/office/drawing/2014/main" id="{FF4601D0-ADC8-84F8-EFA5-A276AE7ECD60}"/>
              </a:ext>
            </a:extLst>
          </p:cNvPr>
          <p:cNvSpPr>
            <a:spLocks noGrp="1"/>
          </p:cNvSpPr>
          <p:nvPr>
            <p:ph type="sldNum" sz="quarter" idx="10"/>
          </p:nvPr>
        </p:nvSpPr>
        <p:spPr bwMode="auto"/>
        <p:txBody>
          <a:bodyPr/>
          <a:lstStyle/>
          <a:p>
            <a:pPr>
              <a:defRPr/>
            </a:pPr>
            <a:fld id="{58ACF463-F719-1DDE-2239-EF211281D24C}" type="slidenum">
              <a:rPr/>
              <a:t>8</a:t>
            </a:fld>
            <a:endParaRPr/>
          </a:p>
        </p:txBody>
      </p:sp>
    </p:spTree>
    <p:extLst>
      <p:ext uri="{BB962C8B-B14F-4D97-AF65-F5344CB8AC3E}">
        <p14:creationId xmlns:p14="http://schemas.microsoft.com/office/powerpoint/2010/main" val="22680172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CEE31-3F8F-F288-B393-78C84B94A2D2}"/>
            </a:ext>
          </a:extLst>
        </p:cNvPr>
        <p:cNvGrpSpPr/>
        <p:nvPr/>
      </p:nvGrpSpPr>
      <p:grpSpPr bwMode="auto">
        <a:xfrm>
          <a:off x="0" y="0"/>
          <a:ext cx="0" cy="0"/>
          <a:chOff x="0" y="0"/>
          <a:chExt cx="0" cy="0"/>
        </a:xfrm>
      </p:grpSpPr>
      <p:sp>
        <p:nvSpPr>
          <p:cNvPr id="1077074429" name="Slide Image Placeholder 1">
            <a:extLst>
              <a:ext uri="{FF2B5EF4-FFF2-40B4-BE49-F238E27FC236}">
                <a16:creationId xmlns:a16="http://schemas.microsoft.com/office/drawing/2014/main" id="{7DB4B3AD-45B2-5D42-DDB4-DFDCDC5613F0}"/>
              </a:ext>
            </a:extLst>
          </p:cNvPr>
          <p:cNvSpPr>
            <a:spLocks noGrp="1" noRot="1" noChangeAspect="1"/>
          </p:cNvSpPr>
          <p:nvPr>
            <p:ph type="sldImg"/>
          </p:nvPr>
        </p:nvSpPr>
        <p:spPr bwMode="auto"/>
        <p:txBody>
          <a:bodyPr/>
          <a:lstStyle/>
          <a:p>
            <a:endParaRPr lang="en-IN"/>
          </a:p>
        </p:txBody>
      </p:sp>
      <p:sp>
        <p:nvSpPr>
          <p:cNvPr id="146906740" name="Notes Placeholder 2">
            <a:extLst>
              <a:ext uri="{FF2B5EF4-FFF2-40B4-BE49-F238E27FC236}">
                <a16:creationId xmlns:a16="http://schemas.microsoft.com/office/drawing/2014/main" id="{1F4AEB34-5F01-6FD8-5EC6-B23B27FC2131}"/>
              </a:ext>
            </a:extLst>
          </p:cNvPr>
          <p:cNvSpPr>
            <a:spLocks noGrp="1"/>
          </p:cNvSpPr>
          <p:nvPr>
            <p:ph type="body" idx="1"/>
          </p:nvPr>
        </p:nvSpPr>
        <p:spPr bwMode="auto"/>
        <p:txBody>
          <a:bodyPr/>
          <a:lstStyle/>
          <a:p>
            <a:pPr>
              <a:defRPr/>
            </a:pPr>
            <a:endParaRPr/>
          </a:p>
        </p:txBody>
      </p:sp>
      <p:sp>
        <p:nvSpPr>
          <p:cNvPr id="461601863" name="Slide Number Placeholder 3">
            <a:extLst>
              <a:ext uri="{FF2B5EF4-FFF2-40B4-BE49-F238E27FC236}">
                <a16:creationId xmlns:a16="http://schemas.microsoft.com/office/drawing/2014/main" id="{8AE4DD82-46C7-67E9-8C4E-B39E5EF5FD80}"/>
              </a:ext>
            </a:extLst>
          </p:cNvPr>
          <p:cNvSpPr>
            <a:spLocks noGrp="1"/>
          </p:cNvSpPr>
          <p:nvPr>
            <p:ph type="sldNum" sz="quarter" idx="10"/>
          </p:nvPr>
        </p:nvSpPr>
        <p:spPr bwMode="auto"/>
        <p:txBody>
          <a:bodyPr/>
          <a:lstStyle/>
          <a:p>
            <a:pPr>
              <a:defRPr/>
            </a:pPr>
            <a:fld id="{58ACF463-F719-1DDE-2239-EF211281D24C}" type="slidenum">
              <a:rPr/>
              <a:t>9</a:t>
            </a:fld>
            <a:endParaRPr/>
          </a:p>
        </p:txBody>
      </p:sp>
    </p:spTree>
    <p:extLst>
      <p:ext uri="{BB962C8B-B14F-4D97-AF65-F5344CB8AC3E}">
        <p14:creationId xmlns:p14="http://schemas.microsoft.com/office/powerpoint/2010/main" val="37665344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CF076-58BA-A09A-AABA-0EF2E7C6F13E}"/>
            </a:ext>
          </a:extLst>
        </p:cNvPr>
        <p:cNvGrpSpPr/>
        <p:nvPr/>
      </p:nvGrpSpPr>
      <p:grpSpPr bwMode="auto">
        <a:xfrm>
          <a:off x="0" y="0"/>
          <a:ext cx="0" cy="0"/>
          <a:chOff x="0" y="0"/>
          <a:chExt cx="0" cy="0"/>
        </a:xfrm>
      </p:grpSpPr>
      <p:sp>
        <p:nvSpPr>
          <p:cNvPr id="1077074429" name="Slide Image Placeholder 1">
            <a:extLst>
              <a:ext uri="{FF2B5EF4-FFF2-40B4-BE49-F238E27FC236}">
                <a16:creationId xmlns:a16="http://schemas.microsoft.com/office/drawing/2014/main" id="{BB81A299-F324-C5A5-917A-5331542647FA}"/>
              </a:ext>
            </a:extLst>
          </p:cNvPr>
          <p:cNvSpPr>
            <a:spLocks noGrp="1" noRot="1" noChangeAspect="1"/>
          </p:cNvSpPr>
          <p:nvPr>
            <p:ph type="sldImg"/>
          </p:nvPr>
        </p:nvSpPr>
        <p:spPr bwMode="auto"/>
        <p:txBody>
          <a:bodyPr/>
          <a:lstStyle/>
          <a:p>
            <a:endParaRPr lang="en-IN"/>
          </a:p>
        </p:txBody>
      </p:sp>
      <p:sp>
        <p:nvSpPr>
          <p:cNvPr id="146906740" name="Notes Placeholder 2">
            <a:extLst>
              <a:ext uri="{FF2B5EF4-FFF2-40B4-BE49-F238E27FC236}">
                <a16:creationId xmlns:a16="http://schemas.microsoft.com/office/drawing/2014/main" id="{1DD22023-42F9-86B6-C820-3287969C2401}"/>
              </a:ext>
            </a:extLst>
          </p:cNvPr>
          <p:cNvSpPr>
            <a:spLocks noGrp="1"/>
          </p:cNvSpPr>
          <p:nvPr>
            <p:ph type="body" idx="1"/>
          </p:nvPr>
        </p:nvSpPr>
        <p:spPr bwMode="auto"/>
        <p:txBody>
          <a:bodyPr/>
          <a:lstStyle/>
          <a:p>
            <a:pPr>
              <a:defRPr/>
            </a:pPr>
            <a:endParaRPr/>
          </a:p>
        </p:txBody>
      </p:sp>
      <p:sp>
        <p:nvSpPr>
          <p:cNvPr id="461601863" name="Slide Number Placeholder 3">
            <a:extLst>
              <a:ext uri="{FF2B5EF4-FFF2-40B4-BE49-F238E27FC236}">
                <a16:creationId xmlns:a16="http://schemas.microsoft.com/office/drawing/2014/main" id="{598A028D-0E34-762D-C538-68A263ED1886}"/>
              </a:ext>
            </a:extLst>
          </p:cNvPr>
          <p:cNvSpPr>
            <a:spLocks noGrp="1"/>
          </p:cNvSpPr>
          <p:nvPr>
            <p:ph type="sldNum" sz="quarter" idx="10"/>
          </p:nvPr>
        </p:nvSpPr>
        <p:spPr bwMode="auto"/>
        <p:txBody>
          <a:bodyPr/>
          <a:lstStyle/>
          <a:p>
            <a:pPr>
              <a:defRPr/>
            </a:pPr>
            <a:fld id="{58ACF463-F719-1DDE-2239-EF211281D24C}" type="slidenum">
              <a:rPr/>
              <a:t>10</a:t>
            </a:fld>
            <a:endParaRPr/>
          </a:p>
        </p:txBody>
      </p:sp>
    </p:spTree>
    <p:extLst>
      <p:ext uri="{BB962C8B-B14F-4D97-AF65-F5344CB8AC3E}">
        <p14:creationId xmlns:p14="http://schemas.microsoft.com/office/powerpoint/2010/main" val="41955139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8498A-DD8F-C824-5493-0FC7A3CE6BE2}"/>
            </a:ext>
          </a:extLst>
        </p:cNvPr>
        <p:cNvGrpSpPr/>
        <p:nvPr/>
      </p:nvGrpSpPr>
      <p:grpSpPr bwMode="auto">
        <a:xfrm>
          <a:off x="0" y="0"/>
          <a:ext cx="0" cy="0"/>
          <a:chOff x="0" y="0"/>
          <a:chExt cx="0" cy="0"/>
        </a:xfrm>
      </p:grpSpPr>
      <p:sp>
        <p:nvSpPr>
          <p:cNvPr id="1077074429" name="Slide Image Placeholder 1">
            <a:extLst>
              <a:ext uri="{FF2B5EF4-FFF2-40B4-BE49-F238E27FC236}">
                <a16:creationId xmlns:a16="http://schemas.microsoft.com/office/drawing/2014/main" id="{F44C6A81-45B7-238A-27A5-4B5591E5E724}"/>
              </a:ext>
            </a:extLst>
          </p:cNvPr>
          <p:cNvSpPr>
            <a:spLocks noGrp="1" noRot="1" noChangeAspect="1"/>
          </p:cNvSpPr>
          <p:nvPr>
            <p:ph type="sldImg"/>
          </p:nvPr>
        </p:nvSpPr>
        <p:spPr bwMode="auto"/>
        <p:txBody>
          <a:bodyPr/>
          <a:lstStyle/>
          <a:p>
            <a:endParaRPr lang="en-IN"/>
          </a:p>
        </p:txBody>
      </p:sp>
      <p:sp>
        <p:nvSpPr>
          <p:cNvPr id="146906740" name="Notes Placeholder 2">
            <a:extLst>
              <a:ext uri="{FF2B5EF4-FFF2-40B4-BE49-F238E27FC236}">
                <a16:creationId xmlns:a16="http://schemas.microsoft.com/office/drawing/2014/main" id="{E20D51B8-3BA0-EFA4-61E6-D3040A01A1CB}"/>
              </a:ext>
            </a:extLst>
          </p:cNvPr>
          <p:cNvSpPr>
            <a:spLocks noGrp="1"/>
          </p:cNvSpPr>
          <p:nvPr>
            <p:ph type="body" idx="1"/>
          </p:nvPr>
        </p:nvSpPr>
        <p:spPr bwMode="auto"/>
        <p:txBody>
          <a:bodyPr/>
          <a:lstStyle/>
          <a:p>
            <a:pPr>
              <a:defRPr/>
            </a:pPr>
            <a:endParaRPr/>
          </a:p>
        </p:txBody>
      </p:sp>
      <p:sp>
        <p:nvSpPr>
          <p:cNvPr id="461601863" name="Slide Number Placeholder 3">
            <a:extLst>
              <a:ext uri="{FF2B5EF4-FFF2-40B4-BE49-F238E27FC236}">
                <a16:creationId xmlns:a16="http://schemas.microsoft.com/office/drawing/2014/main" id="{D8DD9FE8-5FEF-F0B7-1DE4-9E636793FA9E}"/>
              </a:ext>
            </a:extLst>
          </p:cNvPr>
          <p:cNvSpPr>
            <a:spLocks noGrp="1"/>
          </p:cNvSpPr>
          <p:nvPr>
            <p:ph type="sldNum" sz="quarter" idx="10"/>
          </p:nvPr>
        </p:nvSpPr>
        <p:spPr bwMode="auto"/>
        <p:txBody>
          <a:bodyPr/>
          <a:lstStyle/>
          <a:p>
            <a:pPr>
              <a:defRPr/>
            </a:pPr>
            <a:fld id="{58ACF463-F719-1DDE-2239-EF211281D24C}" type="slidenum">
              <a:rPr/>
              <a:t>11</a:t>
            </a:fld>
            <a:endParaRPr/>
          </a:p>
        </p:txBody>
      </p:sp>
    </p:spTree>
    <p:extLst>
      <p:ext uri="{BB962C8B-B14F-4D97-AF65-F5344CB8AC3E}">
        <p14:creationId xmlns:p14="http://schemas.microsoft.com/office/powerpoint/2010/main" val="8795248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0F932-896B-BC44-9C55-6B14F983F3A4}"/>
            </a:ext>
          </a:extLst>
        </p:cNvPr>
        <p:cNvGrpSpPr/>
        <p:nvPr/>
      </p:nvGrpSpPr>
      <p:grpSpPr bwMode="auto">
        <a:xfrm>
          <a:off x="0" y="0"/>
          <a:ext cx="0" cy="0"/>
          <a:chOff x="0" y="0"/>
          <a:chExt cx="0" cy="0"/>
        </a:xfrm>
      </p:grpSpPr>
      <p:sp>
        <p:nvSpPr>
          <p:cNvPr id="1077074429" name="Slide Image Placeholder 1">
            <a:extLst>
              <a:ext uri="{FF2B5EF4-FFF2-40B4-BE49-F238E27FC236}">
                <a16:creationId xmlns:a16="http://schemas.microsoft.com/office/drawing/2014/main" id="{9FD1A65F-012F-2147-EBBE-139BB648166A}"/>
              </a:ext>
            </a:extLst>
          </p:cNvPr>
          <p:cNvSpPr>
            <a:spLocks noGrp="1" noRot="1" noChangeAspect="1"/>
          </p:cNvSpPr>
          <p:nvPr>
            <p:ph type="sldImg"/>
          </p:nvPr>
        </p:nvSpPr>
        <p:spPr bwMode="auto"/>
        <p:txBody>
          <a:bodyPr/>
          <a:lstStyle/>
          <a:p>
            <a:endParaRPr lang="en-IN"/>
          </a:p>
        </p:txBody>
      </p:sp>
      <p:sp>
        <p:nvSpPr>
          <p:cNvPr id="146906740" name="Notes Placeholder 2">
            <a:extLst>
              <a:ext uri="{FF2B5EF4-FFF2-40B4-BE49-F238E27FC236}">
                <a16:creationId xmlns:a16="http://schemas.microsoft.com/office/drawing/2014/main" id="{EDC14499-3102-8041-E1A7-A70D5FA7AC5E}"/>
              </a:ext>
            </a:extLst>
          </p:cNvPr>
          <p:cNvSpPr>
            <a:spLocks noGrp="1"/>
          </p:cNvSpPr>
          <p:nvPr>
            <p:ph type="body" idx="1"/>
          </p:nvPr>
        </p:nvSpPr>
        <p:spPr bwMode="auto"/>
        <p:txBody>
          <a:bodyPr/>
          <a:lstStyle/>
          <a:p>
            <a:pPr>
              <a:defRPr/>
            </a:pPr>
            <a:endParaRPr/>
          </a:p>
        </p:txBody>
      </p:sp>
      <p:sp>
        <p:nvSpPr>
          <p:cNvPr id="461601863" name="Slide Number Placeholder 3">
            <a:extLst>
              <a:ext uri="{FF2B5EF4-FFF2-40B4-BE49-F238E27FC236}">
                <a16:creationId xmlns:a16="http://schemas.microsoft.com/office/drawing/2014/main" id="{0FC6C03D-5602-9A73-8683-F57FFE4CA288}"/>
              </a:ext>
            </a:extLst>
          </p:cNvPr>
          <p:cNvSpPr>
            <a:spLocks noGrp="1"/>
          </p:cNvSpPr>
          <p:nvPr>
            <p:ph type="sldNum" sz="quarter" idx="10"/>
          </p:nvPr>
        </p:nvSpPr>
        <p:spPr bwMode="auto"/>
        <p:txBody>
          <a:bodyPr/>
          <a:lstStyle/>
          <a:p>
            <a:pPr>
              <a:defRPr/>
            </a:pPr>
            <a:fld id="{58ACF463-F719-1DDE-2239-EF211281D24C}" type="slidenum">
              <a:rPr/>
              <a:t>12</a:t>
            </a:fld>
            <a:endParaRPr/>
          </a:p>
        </p:txBody>
      </p:sp>
    </p:spTree>
    <p:extLst>
      <p:ext uri="{BB962C8B-B14F-4D97-AF65-F5344CB8AC3E}">
        <p14:creationId xmlns:p14="http://schemas.microsoft.com/office/powerpoint/2010/main" val="36987636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C8DC3-63DF-2802-7C28-A85F1EC6A451}"/>
            </a:ext>
          </a:extLst>
        </p:cNvPr>
        <p:cNvGrpSpPr/>
        <p:nvPr/>
      </p:nvGrpSpPr>
      <p:grpSpPr bwMode="auto">
        <a:xfrm>
          <a:off x="0" y="0"/>
          <a:ext cx="0" cy="0"/>
          <a:chOff x="0" y="0"/>
          <a:chExt cx="0" cy="0"/>
        </a:xfrm>
      </p:grpSpPr>
      <p:sp>
        <p:nvSpPr>
          <p:cNvPr id="1077074429" name="Slide Image Placeholder 1">
            <a:extLst>
              <a:ext uri="{FF2B5EF4-FFF2-40B4-BE49-F238E27FC236}">
                <a16:creationId xmlns:a16="http://schemas.microsoft.com/office/drawing/2014/main" id="{64293FA7-9DAB-0A8E-E95D-F4A936547D27}"/>
              </a:ext>
            </a:extLst>
          </p:cNvPr>
          <p:cNvSpPr>
            <a:spLocks noGrp="1" noRot="1" noChangeAspect="1"/>
          </p:cNvSpPr>
          <p:nvPr>
            <p:ph type="sldImg"/>
          </p:nvPr>
        </p:nvSpPr>
        <p:spPr bwMode="auto"/>
        <p:txBody>
          <a:bodyPr/>
          <a:lstStyle/>
          <a:p>
            <a:endParaRPr lang="en-IN"/>
          </a:p>
        </p:txBody>
      </p:sp>
      <p:sp>
        <p:nvSpPr>
          <p:cNvPr id="146906740" name="Notes Placeholder 2">
            <a:extLst>
              <a:ext uri="{FF2B5EF4-FFF2-40B4-BE49-F238E27FC236}">
                <a16:creationId xmlns:a16="http://schemas.microsoft.com/office/drawing/2014/main" id="{050750A6-8D1F-FA4A-DB75-899D1F2A4E7A}"/>
              </a:ext>
            </a:extLst>
          </p:cNvPr>
          <p:cNvSpPr>
            <a:spLocks noGrp="1"/>
          </p:cNvSpPr>
          <p:nvPr>
            <p:ph type="body" idx="1"/>
          </p:nvPr>
        </p:nvSpPr>
        <p:spPr bwMode="auto"/>
        <p:txBody>
          <a:bodyPr/>
          <a:lstStyle/>
          <a:p>
            <a:pPr>
              <a:defRPr/>
            </a:pPr>
            <a:endParaRPr/>
          </a:p>
        </p:txBody>
      </p:sp>
      <p:sp>
        <p:nvSpPr>
          <p:cNvPr id="461601863" name="Slide Number Placeholder 3">
            <a:extLst>
              <a:ext uri="{FF2B5EF4-FFF2-40B4-BE49-F238E27FC236}">
                <a16:creationId xmlns:a16="http://schemas.microsoft.com/office/drawing/2014/main" id="{21B305D1-3730-E624-E4EA-C78CF6B2A2A4}"/>
              </a:ext>
            </a:extLst>
          </p:cNvPr>
          <p:cNvSpPr>
            <a:spLocks noGrp="1"/>
          </p:cNvSpPr>
          <p:nvPr>
            <p:ph type="sldNum" sz="quarter" idx="10"/>
          </p:nvPr>
        </p:nvSpPr>
        <p:spPr bwMode="auto"/>
        <p:txBody>
          <a:bodyPr/>
          <a:lstStyle/>
          <a:p>
            <a:pPr>
              <a:defRPr/>
            </a:pPr>
            <a:fld id="{58ACF463-F719-1DDE-2239-EF211281D24C}" type="slidenum">
              <a:rPr/>
              <a:t>13</a:t>
            </a:fld>
            <a:endParaRPr/>
          </a:p>
        </p:txBody>
      </p:sp>
    </p:spTree>
    <p:extLst>
      <p:ext uri="{BB962C8B-B14F-4D97-AF65-F5344CB8AC3E}">
        <p14:creationId xmlns:p14="http://schemas.microsoft.com/office/powerpoint/2010/main" val="38738928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355639254" name="Slide Image Placeholder 1"/>
          <p:cNvSpPr>
            <a:spLocks noGrp="1" noRot="1" noChangeAspect="1"/>
          </p:cNvSpPr>
          <p:nvPr>
            <p:ph type="sldImg"/>
          </p:nvPr>
        </p:nvSpPr>
        <p:spPr bwMode="auto"/>
        <p:txBody>
          <a:bodyPr/>
          <a:lstStyle/>
          <a:p>
            <a:endParaRPr lang="en-IN"/>
          </a:p>
        </p:txBody>
      </p:sp>
      <p:sp>
        <p:nvSpPr>
          <p:cNvPr id="315871754" name="Notes Placeholder 2"/>
          <p:cNvSpPr>
            <a:spLocks noGrp="1"/>
          </p:cNvSpPr>
          <p:nvPr>
            <p:ph type="body" idx="1"/>
          </p:nvPr>
        </p:nvSpPr>
        <p:spPr bwMode="auto"/>
        <p:txBody>
          <a:bodyPr/>
          <a:lstStyle/>
          <a:p>
            <a:pPr>
              <a:defRPr/>
            </a:pPr>
            <a:endParaRPr dirty="0"/>
          </a:p>
        </p:txBody>
      </p:sp>
      <p:sp>
        <p:nvSpPr>
          <p:cNvPr id="1043953227" name="Slide Number Placeholder 3"/>
          <p:cNvSpPr>
            <a:spLocks noGrp="1"/>
          </p:cNvSpPr>
          <p:nvPr>
            <p:ph type="sldNum" sz="quarter" idx="10"/>
          </p:nvPr>
        </p:nvSpPr>
        <p:spPr bwMode="auto"/>
        <p:txBody>
          <a:bodyPr/>
          <a:lstStyle/>
          <a:p>
            <a:pPr>
              <a:defRPr/>
            </a:pPr>
            <a:fld id="{60EBE623-A73A-08B4-489B-08165C6163A8}" type="slidenum">
              <a:rPr/>
              <a:t>14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le Slide">
    <p:spTree>
      <p:nvGrpSpPr>
        <p:cNvPr id="1" name=""/>
        <p:cNvGrpSpPr/>
        <p:nvPr/>
      </p:nvGrpSpPr>
      <p:grpSpPr bwMode="auto">
        <a:xfrm>
          <a:off x="0" y="0"/>
          <a:ext cx="0" cy="0"/>
          <a:chOff x="0" y="0"/>
          <a:chExt cx="0" cy="0"/>
        </a:xfrm>
      </p:grpSpPr>
      <p:sp>
        <p:nvSpPr>
          <p:cNvPr id="1616569760" name="Title 1"/>
          <p:cNvSpPr>
            <a:spLocks noGrp="1"/>
          </p:cNvSpPr>
          <p:nvPr>
            <p:ph type="ctrTitle"/>
          </p:nvPr>
        </p:nvSpPr>
        <p:spPr bwMode="auto">
          <a:xfrm>
            <a:off x="685800" y="2130425"/>
            <a:ext cx="7772400" cy="1470025"/>
          </a:xfrm>
        </p:spPr>
        <p:txBody>
          <a:bodyPr/>
          <a:lstStyle/>
          <a:p>
            <a:pPr>
              <a:defRPr/>
            </a:pPr>
            <a:r>
              <a:rPr lang="en-US"/>
              <a:t>Click to edit Master title style</a:t>
            </a:r>
            <a:endParaRPr/>
          </a:p>
        </p:txBody>
      </p:sp>
      <p:sp>
        <p:nvSpPr>
          <p:cNvPr id="651735407"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a:p>
        </p:txBody>
      </p:sp>
      <p:sp>
        <p:nvSpPr>
          <p:cNvPr id="54400332" name="Date Placeholder 3"/>
          <p:cNvSpPr>
            <a:spLocks noGrp="1"/>
          </p:cNvSpPr>
          <p:nvPr>
            <p:ph type="dt" sz="half" idx="10"/>
          </p:nvPr>
        </p:nvSpPr>
        <p:spPr bwMode="auto"/>
        <p:txBody>
          <a:bodyPr/>
          <a:lstStyle/>
          <a:p>
            <a:pPr>
              <a:defRPr/>
            </a:pPr>
            <a:fld id="{5BCAD085-E8A6-8845-BD4E-CB4CCA059FC4}" type="datetimeFigureOut">
              <a:rPr lang="en-US"/>
              <a:t>10/3/2026</a:t>
            </a:fld>
            <a:endParaRPr lang="en-US"/>
          </a:p>
        </p:txBody>
      </p:sp>
      <p:sp>
        <p:nvSpPr>
          <p:cNvPr id="1372137507" name="Footer Placeholder 4"/>
          <p:cNvSpPr>
            <a:spLocks noGrp="1"/>
          </p:cNvSpPr>
          <p:nvPr>
            <p:ph type="ftr" sz="quarter" idx="11"/>
          </p:nvPr>
        </p:nvSpPr>
        <p:spPr bwMode="auto"/>
        <p:txBody>
          <a:bodyPr/>
          <a:lstStyle/>
          <a:p>
            <a:pPr>
              <a:defRPr/>
            </a:pPr>
            <a:endParaRPr lang="en-US"/>
          </a:p>
        </p:txBody>
      </p:sp>
      <p:sp>
        <p:nvSpPr>
          <p:cNvPr id="1745944409"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1101013708" name="Title 1"/>
          <p:cNvSpPr>
            <a:spLocks noGrp="1"/>
          </p:cNvSpPr>
          <p:nvPr>
            <p:ph type="title"/>
          </p:nvPr>
        </p:nvSpPr>
        <p:spPr bwMode="auto"/>
        <p:txBody>
          <a:bodyPr/>
          <a:lstStyle/>
          <a:p>
            <a:pPr>
              <a:defRPr/>
            </a:pPr>
            <a:r>
              <a:rPr lang="en-US"/>
              <a:t>Click to edit Master title style</a:t>
            </a:r>
            <a:endParaRPr/>
          </a:p>
        </p:txBody>
      </p:sp>
      <p:sp>
        <p:nvSpPr>
          <p:cNvPr id="462172678"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200032451" name="Date Placeholder 3"/>
          <p:cNvSpPr>
            <a:spLocks noGrp="1"/>
          </p:cNvSpPr>
          <p:nvPr>
            <p:ph type="dt" sz="half" idx="10"/>
          </p:nvPr>
        </p:nvSpPr>
        <p:spPr bwMode="auto"/>
        <p:txBody>
          <a:bodyPr/>
          <a:lstStyle/>
          <a:p>
            <a:pPr>
              <a:defRPr/>
            </a:pPr>
            <a:fld id="{5BCAD085-E8A6-8845-BD4E-CB4CCA059FC4}" type="datetimeFigureOut">
              <a:rPr lang="en-US"/>
              <a:t>10/3/2026</a:t>
            </a:fld>
            <a:endParaRPr lang="en-US"/>
          </a:p>
        </p:txBody>
      </p:sp>
      <p:sp>
        <p:nvSpPr>
          <p:cNvPr id="179881584" name="Footer Placeholder 4"/>
          <p:cNvSpPr>
            <a:spLocks noGrp="1"/>
          </p:cNvSpPr>
          <p:nvPr>
            <p:ph type="ftr" sz="quarter" idx="11"/>
          </p:nvPr>
        </p:nvSpPr>
        <p:spPr bwMode="auto"/>
        <p:txBody>
          <a:bodyPr/>
          <a:lstStyle/>
          <a:p>
            <a:pPr>
              <a:defRPr/>
            </a:pPr>
            <a:endParaRPr lang="en-US"/>
          </a:p>
        </p:txBody>
      </p:sp>
      <p:sp>
        <p:nvSpPr>
          <p:cNvPr id="294292769"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secHead" preserve="1" userDrawn="1">
  <p:cSld name="Section Header">
    <p:spTree>
      <p:nvGrpSpPr>
        <p:cNvPr id="1" name=""/>
        <p:cNvGrpSpPr/>
        <p:nvPr/>
      </p:nvGrpSpPr>
      <p:grpSpPr bwMode="auto">
        <a:xfrm>
          <a:off x="0" y="0"/>
          <a:ext cx="0" cy="0"/>
          <a:chOff x="0" y="0"/>
          <a:chExt cx="0" cy="0"/>
        </a:xfrm>
      </p:grpSpPr>
      <p:sp>
        <p:nvSpPr>
          <p:cNvPr id="522557517"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endParaRPr/>
          </a:p>
        </p:txBody>
      </p:sp>
      <p:sp>
        <p:nvSpPr>
          <p:cNvPr id="296970436"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457469656" name="Date Placeholder 3"/>
          <p:cNvSpPr>
            <a:spLocks noGrp="1"/>
          </p:cNvSpPr>
          <p:nvPr>
            <p:ph type="dt" sz="half" idx="10"/>
          </p:nvPr>
        </p:nvSpPr>
        <p:spPr bwMode="auto"/>
        <p:txBody>
          <a:bodyPr/>
          <a:lstStyle/>
          <a:p>
            <a:pPr>
              <a:defRPr/>
            </a:pPr>
            <a:fld id="{5BCAD085-E8A6-8845-BD4E-CB4CCA059FC4}" type="datetimeFigureOut">
              <a:rPr lang="en-US"/>
              <a:t>10/3/2026</a:t>
            </a:fld>
            <a:endParaRPr lang="en-US"/>
          </a:p>
        </p:txBody>
      </p:sp>
      <p:sp>
        <p:nvSpPr>
          <p:cNvPr id="1072733579" name="Footer Placeholder 4"/>
          <p:cNvSpPr>
            <a:spLocks noGrp="1"/>
          </p:cNvSpPr>
          <p:nvPr>
            <p:ph type="ftr" sz="quarter" idx="11"/>
          </p:nvPr>
        </p:nvSpPr>
        <p:spPr bwMode="auto"/>
        <p:txBody>
          <a:bodyPr/>
          <a:lstStyle/>
          <a:p>
            <a:pPr>
              <a:defRPr/>
            </a:pPr>
            <a:endParaRPr lang="en-US"/>
          </a:p>
        </p:txBody>
      </p:sp>
      <p:sp>
        <p:nvSpPr>
          <p:cNvPr id="472894694"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userDrawn="1">
  <p:cSld name="Two Content">
    <p:spTree>
      <p:nvGrpSpPr>
        <p:cNvPr id="1" name=""/>
        <p:cNvGrpSpPr/>
        <p:nvPr/>
      </p:nvGrpSpPr>
      <p:grpSpPr bwMode="auto">
        <a:xfrm>
          <a:off x="0" y="0"/>
          <a:ext cx="0" cy="0"/>
          <a:chOff x="0" y="0"/>
          <a:chExt cx="0" cy="0"/>
        </a:xfrm>
      </p:grpSpPr>
      <p:sp>
        <p:nvSpPr>
          <p:cNvPr id="1931466044" name="Title 1"/>
          <p:cNvSpPr>
            <a:spLocks noGrp="1"/>
          </p:cNvSpPr>
          <p:nvPr>
            <p:ph type="title"/>
          </p:nvPr>
        </p:nvSpPr>
        <p:spPr bwMode="auto"/>
        <p:txBody>
          <a:bodyPr/>
          <a:lstStyle/>
          <a:p>
            <a:pPr>
              <a:defRPr/>
            </a:pPr>
            <a:r>
              <a:rPr lang="en-US"/>
              <a:t>Click to edit Master title style</a:t>
            </a:r>
            <a:endParaRPr/>
          </a:p>
        </p:txBody>
      </p:sp>
      <p:sp>
        <p:nvSpPr>
          <p:cNvPr id="836408780"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647749048"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892183766" name="Date Placeholder 4"/>
          <p:cNvSpPr>
            <a:spLocks noGrp="1"/>
          </p:cNvSpPr>
          <p:nvPr>
            <p:ph type="dt" sz="half" idx="10"/>
          </p:nvPr>
        </p:nvSpPr>
        <p:spPr bwMode="auto"/>
        <p:txBody>
          <a:bodyPr/>
          <a:lstStyle/>
          <a:p>
            <a:pPr>
              <a:defRPr/>
            </a:pPr>
            <a:fld id="{5BCAD085-E8A6-8845-BD4E-CB4CCA059FC4}" type="datetimeFigureOut">
              <a:rPr lang="en-US"/>
              <a:t>10/3/2026</a:t>
            </a:fld>
            <a:endParaRPr lang="en-US"/>
          </a:p>
        </p:txBody>
      </p:sp>
      <p:sp>
        <p:nvSpPr>
          <p:cNvPr id="544536793" name="Footer Placeholder 5"/>
          <p:cNvSpPr>
            <a:spLocks noGrp="1"/>
          </p:cNvSpPr>
          <p:nvPr>
            <p:ph type="ftr" sz="quarter" idx="11"/>
          </p:nvPr>
        </p:nvSpPr>
        <p:spPr bwMode="auto"/>
        <p:txBody>
          <a:bodyPr/>
          <a:lstStyle/>
          <a:p>
            <a:pPr>
              <a:defRPr/>
            </a:pPr>
            <a:endParaRPr lang="en-US"/>
          </a:p>
        </p:txBody>
      </p:sp>
      <p:sp>
        <p:nvSpPr>
          <p:cNvPr id="603920642"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ison">
    <p:spTree>
      <p:nvGrpSpPr>
        <p:cNvPr id="1" name=""/>
        <p:cNvGrpSpPr/>
        <p:nvPr/>
      </p:nvGrpSpPr>
      <p:grpSpPr bwMode="auto">
        <a:xfrm>
          <a:off x="0" y="0"/>
          <a:ext cx="0" cy="0"/>
          <a:chOff x="0" y="0"/>
          <a:chExt cx="0" cy="0"/>
        </a:xfrm>
      </p:grpSpPr>
      <p:sp>
        <p:nvSpPr>
          <p:cNvPr id="1385773846" name="Title 1"/>
          <p:cNvSpPr>
            <a:spLocks noGrp="1"/>
          </p:cNvSpPr>
          <p:nvPr>
            <p:ph type="title"/>
          </p:nvPr>
        </p:nvSpPr>
        <p:spPr bwMode="auto"/>
        <p:txBody>
          <a:bodyPr/>
          <a:lstStyle>
            <a:lvl1pPr>
              <a:defRPr/>
            </a:lvl1pPr>
          </a:lstStyle>
          <a:p>
            <a:pPr>
              <a:defRPr/>
            </a:pPr>
            <a:r>
              <a:rPr lang="en-US"/>
              <a:t>Click to edit Master title style</a:t>
            </a:r>
            <a:endParaRPr/>
          </a:p>
        </p:txBody>
      </p:sp>
      <p:sp>
        <p:nvSpPr>
          <p:cNvPr id="95156604"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96648158"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68556279"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715234365"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144146908" name="Date Placeholder 6"/>
          <p:cNvSpPr>
            <a:spLocks noGrp="1"/>
          </p:cNvSpPr>
          <p:nvPr>
            <p:ph type="dt" sz="half" idx="10"/>
          </p:nvPr>
        </p:nvSpPr>
        <p:spPr bwMode="auto"/>
        <p:txBody>
          <a:bodyPr/>
          <a:lstStyle/>
          <a:p>
            <a:pPr>
              <a:defRPr/>
            </a:pPr>
            <a:fld id="{5BCAD085-E8A6-8845-BD4E-CB4CCA059FC4}" type="datetimeFigureOut">
              <a:rPr lang="en-US"/>
              <a:t>10/3/2026</a:t>
            </a:fld>
            <a:endParaRPr lang="en-US"/>
          </a:p>
        </p:txBody>
      </p:sp>
      <p:sp>
        <p:nvSpPr>
          <p:cNvPr id="1151399329" name="Footer Placeholder 7"/>
          <p:cNvSpPr>
            <a:spLocks noGrp="1"/>
          </p:cNvSpPr>
          <p:nvPr>
            <p:ph type="ftr" sz="quarter" idx="11"/>
          </p:nvPr>
        </p:nvSpPr>
        <p:spPr bwMode="auto"/>
        <p:txBody>
          <a:bodyPr/>
          <a:lstStyle/>
          <a:p>
            <a:pPr>
              <a:defRPr/>
            </a:pPr>
            <a:endParaRPr lang="en-US"/>
          </a:p>
        </p:txBody>
      </p:sp>
      <p:sp>
        <p:nvSpPr>
          <p:cNvPr id="416691166" name="Slide Number Placeholder 8"/>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spTree>
      <p:nvGrpSpPr>
        <p:cNvPr id="1" name=""/>
        <p:cNvGrpSpPr/>
        <p:nvPr/>
      </p:nvGrpSpPr>
      <p:grpSpPr bwMode="auto">
        <a:xfrm>
          <a:off x="0" y="0"/>
          <a:ext cx="0" cy="0"/>
          <a:chOff x="0" y="0"/>
          <a:chExt cx="0" cy="0"/>
        </a:xfrm>
      </p:grpSpPr>
      <p:sp>
        <p:nvSpPr>
          <p:cNvPr id="440844634" name="Title 1"/>
          <p:cNvSpPr>
            <a:spLocks noGrp="1"/>
          </p:cNvSpPr>
          <p:nvPr>
            <p:ph type="title"/>
          </p:nvPr>
        </p:nvSpPr>
        <p:spPr bwMode="auto"/>
        <p:txBody>
          <a:bodyPr/>
          <a:lstStyle/>
          <a:p>
            <a:pPr>
              <a:defRPr/>
            </a:pPr>
            <a:r>
              <a:rPr lang="en-US"/>
              <a:t>Click to edit Master title style</a:t>
            </a:r>
            <a:endParaRPr/>
          </a:p>
        </p:txBody>
      </p:sp>
      <p:sp>
        <p:nvSpPr>
          <p:cNvPr id="214254391" name="Date Placeholder 2"/>
          <p:cNvSpPr>
            <a:spLocks noGrp="1"/>
          </p:cNvSpPr>
          <p:nvPr>
            <p:ph type="dt" sz="half" idx="10"/>
          </p:nvPr>
        </p:nvSpPr>
        <p:spPr bwMode="auto"/>
        <p:txBody>
          <a:bodyPr/>
          <a:lstStyle/>
          <a:p>
            <a:pPr>
              <a:defRPr/>
            </a:pPr>
            <a:fld id="{5BCAD085-E8A6-8845-BD4E-CB4CCA059FC4}" type="datetimeFigureOut">
              <a:rPr lang="en-US"/>
              <a:t>10/3/2026</a:t>
            </a:fld>
            <a:endParaRPr lang="en-US"/>
          </a:p>
        </p:txBody>
      </p:sp>
      <p:sp>
        <p:nvSpPr>
          <p:cNvPr id="548869033" name="Footer Placeholder 3"/>
          <p:cNvSpPr>
            <a:spLocks noGrp="1"/>
          </p:cNvSpPr>
          <p:nvPr>
            <p:ph type="ftr" sz="quarter" idx="11"/>
          </p:nvPr>
        </p:nvSpPr>
        <p:spPr bwMode="auto"/>
        <p:txBody>
          <a:bodyPr/>
          <a:lstStyle/>
          <a:p>
            <a:pPr>
              <a:defRPr/>
            </a:pPr>
            <a:endParaRPr lang="en-US"/>
          </a:p>
        </p:txBody>
      </p:sp>
      <p:sp>
        <p:nvSpPr>
          <p:cNvPr id="988330327" name="Slide Number Placeholder 4"/>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blank" preserve="1" userDrawn="1">
  <p:cSld name="Blank">
    <p:spTree>
      <p:nvGrpSpPr>
        <p:cNvPr id="1" name=""/>
        <p:cNvGrpSpPr/>
        <p:nvPr/>
      </p:nvGrpSpPr>
      <p:grpSpPr bwMode="auto">
        <a:xfrm>
          <a:off x="0" y="0"/>
          <a:ext cx="0" cy="0"/>
          <a:chOff x="0" y="0"/>
          <a:chExt cx="0" cy="0"/>
        </a:xfrm>
      </p:grpSpPr>
      <p:sp>
        <p:nvSpPr>
          <p:cNvPr id="623844635" name="Date Placeholder 1"/>
          <p:cNvSpPr>
            <a:spLocks noGrp="1"/>
          </p:cNvSpPr>
          <p:nvPr>
            <p:ph type="dt" sz="half" idx="10"/>
          </p:nvPr>
        </p:nvSpPr>
        <p:spPr bwMode="auto"/>
        <p:txBody>
          <a:bodyPr/>
          <a:lstStyle/>
          <a:p>
            <a:pPr>
              <a:defRPr/>
            </a:pPr>
            <a:fld id="{5BCAD085-E8A6-8845-BD4E-CB4CCA059FC4}" type="datetimeFigureOut">
              <a:rPr lang="en-US"/>
              <a:t>10/3/2026</a:t>
            </a:fld>
            <a:endParaRPr lang="en-US"/>
          </a:p>
        </p:txBody>
      </p:sp>
      <p:sp>
        <p:nvSpPr>
          <p:cNvPr id="1669655539" name="Footer Placeholder 2"/>
          <p:cNvSpPr>
            <a:spLocks noGrp="1"/>
          </p:cNvSpPr>
          <p:nvPr>
            <p:ph type="ftr" sz="quarter" idx="11"/>
          </p:nvPr>
        </p:nvSpPr>
        <p:spPr bwMode="auto"/>
        <p:txBody>
          <a:bodyPr/>
          <a:lstStyle/>
          <a:p>
            <a:pPr>
              <a:defRPr/>
            </a:pPr>
            <a:endParaRPr lang="en-US"/>
          </a:p>
        </p:txBody>
      </p:sp>
      <p:sp>
        <p:nvSpPr>
          <p:cNvPr id="908077372" name="Slide Number Placeholder 3"/>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Tx" preserve="1" userDrawn="1">
  <p:cSld name="Content with Caption">
    <p:spTree>
      <p:nvGrpSpPr>
        <p:cNvPr id="1" name=""/>
        <p:cNvGrpSpPr/>
        <p:nvPr/>
      </p:nvGrpSpPr>
      <p:grpSpPr bwMode="auto">
        <a:xfrm>
          <a:off x="0" y="0"/>
          <a:ext cx="0" cy="0"/>
          <a:chOff x="0" y="0"/>
          <a:chExt cx="0" cy="0"/>
        </a:xfrm>
      </p:grpSpPr>
      <p:sp>
        <p:nvSpPr>
          <p:cNvPr id="1961772378"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endParaRPr/>
          </a:p>
        </p:txBody>
      </p:sp>
      <p:sp>
        <p:nvSpPr>
          <p:cNvPr id="1218946821"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577650532"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616739986" name="Date Placeholder 4"/>
          <p:cNvSpPr>
            <a:spLocks noGrp="1"/>
          </p:cNvSpPr>
          <p:nvPr>
            <p:ph type="dt" sz="half" idx="10"/>
          </p:nvPr>
        </p:nvSpPr>
        <p:spPr bwMode="auto"/>
        <p:txBody>
          <a:bodyPr/>
          <a:lstStyle/>
          <a:p>
            <a:pPr>
              <a:defRPr/>
            </a:pPr>
            <a:fld id="{5BCAD085-E8A6-8845-BD4E-CB4CCA059FC4}" type="datetimeFigureOut">
              <a:rPr lang="en-US"/>
              <a:t>10/3/2026</a:t>
            </a:fld>
            <a:endParaRPr lang="en-US"/>
          </a:p>
        </p:txBody>
      </p:sp>
      <p:sp>
        <p:nvSpPr>
          <p:cNvPr id="27751976" name="Footer Placeholder 5"/>
          <p:cNvSpPr>
            <a:spLocks noGrp="1"/>
          </p:cNvSpPr>
          <p:nvPr>
            <p:ph type="ftr" sz="quarter" idx="11"/>
          </p:nvPr>
        </p:nvSpPr>
        <p:spPr bwMode="auto"/>
        <p:txBody>
          <a:bodyPr/>
          <a:lstStyle/>
          <a:p>
            <a:pPr>
              <a:defRPr/>
            </a:pPr>
            <a:endParaRPr lang="en-US"/>
          </a:p>
        </p:txBody>
      </p:sp>
      <p:sp>
        <p:nvSpPr>
          <p:cNvPr id="537585873"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picTx" preserve="1" userDrawn="1">
  <p:cSld name="Picture with Caption">
    <p:spTree>
      <p:nvGrpSpPr>
        <p:cNvPr id="1" name=""/>
        <p:cNvGrpSpPr/>
        <p:nvPr/>
      </p:nvGrpSpPr>
      <p:grpSpPr bwMode="auto">
        <a:xfrm>
          <a:off x="0" y="0"/>
          <a:ext cx="0" cy="0"/>
          <a:chOff x="0" y="0"/>
          <a:chExt cx="0" cy="0"/>
        </a:xfrm>
      </p:grpSpPr>
      <p:sp>
        <p:nvSpPr>
          <p:cNvPr id="1309048378"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endParaRPr/>
          </a:p>
        </p:txBody>
      </p:sp>
      <p:sp>
        <p:nvSpPr>
          <p:cNvPr id="1746472801"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2060913399"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23372162" name="Date Placeholder 4"/>
          <p:cNvSpPr>
            <a:spLocks noGrp="1"/>
          </p:cNvSpPr>
          <p:nvPr>
            <p:ph type="dt" sz="half" idx="10"/>
          </p:nvPr>
        </p:nvSpPr>
        <p:spPr bwMode="auto"/>
        <p:txBody>
          <a:bodyPr/>
          <a:lstStyle/>
          <a:p>
            <a:pPr>
              <a:defRPr/>
            </a:pPr>
            <a:fld id="{5BCAD085-E8A6-8845-BD4E-CB4CCA059FC4}" type="datetimeFigureOut">
              <a:rPr lang="en-US"/>
              <a:t>10/3/2026</a:t>
            </a:fld>
            <a:endParaRPr lang="en-US"/>
          </a:p>
        </p:txBody>
      </p:sp>
      <p:sp>
        <p:nvSpPr>
          <p:cNvPr id="168942757" name="Footer Placeholder 5"/>
          <p:cNvSpPr>
            <a:spLocks noGrp="1"/>
          </p:cNvSpPr>
          <p:nvPr>
            <p:ph type="ftr" sz="quarter" idx="11"/>
          </p:nvPr>
        </p:nvSpPr>
        <p:spPr bwMode="auto"/>
        <p:txBody>
          <a:bodyPr/>
          <a:lstStyle/>
          <a:p>
            <a:pPr>
              <a:defRPr/>
            </a:pPr>
            <a:endParaRPr lang="en-US"/>
          </a:p>
        </p:txBody>
      </p:sp>
      <p:sp>
        <p:nvSpPr>
          <p:cNvPr id="2096313132"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vertTx" preserve="1" userDrawn="1">
  <p:cSld name="Title and Vertical Text">
    <p:spTree>
      <p:nvGrpSpPr>
        <p:cNvPr id="1" name=""/>
        <p:cNvGrpSpPr/>
        <p:nvPr/>
      </p:nvGrpSpPr>
      <p:grpSpPr bwMode="auto">
        <a:xfrm>
          <a:off x="0" y="0"/>
          <a:ext cx="0" cy="0"/>
          <a:chOff x="0" y="0"/>
          <a:chExt cx="0" cy="0"/>
        </a:xfrm>
      </p:grpSpPr>
      <p:sp>
        <p:nvSpPr>
          <p:cNvPr id="1043507303" name="Title 1"/>
          <p:cNvSpPr>
            <a:spLocks noGrp="1"/>
          </p:cNvSpPr>
          <p:nvPr>
            <p:ph type="title"/>
          </p:nvPr>
        </p:nvSpPr>
        <p:spPr bwMode="auto"/>
        <p:txBody>
          <a:bodyPr/>
          <a:lstStyle/>
          <a:p>
            <a:pPr>
              <a:defRPr/>
            </a:pPr>
            <a:r>
              <a:rPr lang="en-US"/>
              <a:t>Click to edit Master title style</a:t>
            </a:r>
            <a:endParaRPr/>
          </a:p>
        </p:txBody>
      </p:sp>
      <p:sp>
        <p:nvSpPr>
          <p:cNvPr id="999298346"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288172023" name="Date Placeholder 3"/>
          <p:cNvSpPr>
            <a:spLocks noGrp="1"/>
          </p:cNvSpPr>
          <p:nvPr>
            <p:ph type="dt" sz="half" idx="10"/>
          </p:nvPr>
        </p:nvSpPr>
        <p:spPr bwMode="auto"/>
        <p:txBody>
          <a:bodyPr/>
          <a:lstStyle/>
          <a:p>
            <a:pPr>
              <a:defRPr/>
            </a:pPr>
            <a:fld id="{5BCAD085-E8A6-8845-BD4E-CB4CCA059FC4}" type="datetimeFigureOut">
              <a:rPr lang="en-US"/>
              <a:t>10/3/2026</a:t>
            </a:fld>
            <a:endParaRPr lang="en-US"/>
          </a:p>
        </p:txBody>
      </p:sp>
      <p:sp>
        <p:nvSpPr>
          <p:cNvPr id="1377906430" name="Footer Placeholder 4"/>
          <p:cNvSpPr>
            <a:spLocks noGrp="1"/>
          </p:cNvSpPr>
          <p:nvPr>
            <p:ph type="ftr" sz="quarter" idx="11"/>
          </p:nvPr>
        </p:nvSpPr>
        <p:spPr bwMode="auto"/>
        <p:txBody>
          <a:bodyPr/>
          <a:lstStyle/>
          <a:p>
            <a:pPr>
              <a:defRPr/>
            </a:pPr>
            <a:endParaRPr lang="en-US"/>
          </a:p>
        </p:txBody>
      </p:sp>
      <p:sp>
        <p:nvSpPr>
          <p:cNvPr id="1870711441"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Vertical Title and Text">
    <p:spTree>
      <p:nvGrpSpPr>
        <p:cNvPr id="1" name=""/>
        <p:cNvGrpSpPr/>
        <p:nvPr/>
      </p:nvGrpSpPr>
      <p:grpSpPr bwMode="auto">
        <a:xfrm>
          <a:off x="0" y="0"/>
          <a:ext cx="0" cy="0"/>
          <a:chOff x="0" y="0"/>
          <a:chExt cx="0" cy="0"/>
        </a:xfrm>
      </p:grpSpPr>
      <p:sp>
        <p:nvSpPr>
          <p:cNvPr id="124365575"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endParaRPr/>
          </a:p>
        </p:txBody>
      </p:sp>
      <p:sp>
        <p:nvSpPr>
          <p:cNvPr id="584642627"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675700107" name="Date Placeholder 3"/>
          <p:cNvSpPr>
            <a:spLocks noGrp="1"/>
          </p:cNvSpPr>
          <p:nvPr>
            <p:ph type="dt" sz="half" idx="10"/>
          </p:nvPr>
        </p:nvSpPr>
        <p:spPr bwMode="auto"/>
        <p:txBody>
          <a:bodyPr/>
          <a:lstStyle/>
          <a:p>
            <a:pPr>
              <a:defRPr/>
            </a:pPr>
            <a:fld id="{5BCAD085-E8A6-8845-BD4E-CB4CCA059FC4}" type="datetimeFigureOut">
              <a:rPr lang="en-US"/>
              <a:t>10/3/2026</a:t>
            </a:fld>
            <a:endParaRPr lang="en-US"/>
          </a:p>
        </p:txBody>
      </p:sp>
      <p:sp>
        <p:nvSpPr>
          <p:cNvPr id="516727925" name="Footer Placeholder 4"/>
          <p:cNvSpPr>
            <a:spLocks noGrp="1"/>
          </p:cNvSpPr>
          <p:nvPr>
            <p:ph type="ftr" sz="quarter" idx="11"/>
          </p:nvPr>
        </p:nvSpPr>
        <p:spPr bwMode="auto"/>
        <p:txBody>
          <a:bodyPr/>
          <a:lstStyle/>
          <a:p>
            <a:pPr>
              <a:defRPr/>
            </a:pPr>
            <a:endParaRPr lang="en-US"/>
          </a:p>
        </p:txBody>
      </p:sp>
      <p:sp>
        <p:nvSpPr>
          <p:cNvPr id="1908482418"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1837202544"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a:t>Click to edit Master title style</a:t>
            </a:r>
            <a:endParaRPr/>
          </a:p>
        </p:txBody>
      </p:sp>
      <p:sp>
        <p:nvSpPr>
          <p:cNvPr id="1711729823"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37600912"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5BCAD085-E8A6-8845-BD4E-CB4CCA059FC4}" type="datetimeFigureOut">
              <a:rPr lang="en-US"/>
              <a:t>10/3/2026</a:t>
            </a:fld>
            <a:endParaRPr lang="en-US"/>
          </a:p>
        </p:txBody>
      </p:sp>
      <p:sp>
        <p:nvSpPr>
          <p:cNvPr id="418202536"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703294241"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C1FF6DA9-008F-8B48-92A6-B652298478BF}"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a:spcBef>
          <a:spcPts val="0"/>
        </a:spcBef>
        <a:buNone/>
        <a:defRPr sz="4400">
          <a:solidFill>
            <a:schemeClr val="tx1"/>
          </a:solidFill>
          <a:latin typeface="+mj-lt"/>
          <a:ea typeface="+mj-ea"/>
          <a:cs typeface="+mj-cs"/>
        </a:defRPr>
      </a:lvl1pPr>
    </p:titleStyle>
    <p:bodyStyle>
      <a:lvl1pPr marL="342900" indent="-342900" algn="l" defTabSz="457200" rtl="0">
        <a:spcBef>
          <a:spcPts val="0"/>
        </a:spcBef>
        <a:buFont typeface="Arial"/>
        <a:buChar char="•"/>
        <a:defRPr sz="3200">
          <a:solidFill>
            <a:schemeClr val="tx1"/>
          </a:solidFill>
          <a:latin typeface="+mn-lt"/>
          <a:ea typeface="+mn-ea"/>
          <a:cs typeface="+mn-cs"/>
        </a:defRPr>
      </a:lvl1pPr>
      <a:lvl2pPr marL="742950" indent="-285750" algn="l" defTabSz="457200" rtl="0">
        <a:spcBef>
          <a:spcPts val="0"/>
        </a:spcBef>
        <a:buFont typeface="Arial"/>
        <a:buChar char="–"/>
        <a:defRPr sz="2800">
          <a:solidFill>
            <a:schemeClr val="tx1"/>
          </a:solidFill>
          <a:latin typeface="+mn-lt"/>
          <a:ea typeface="+mn-ea"/>
          <a:cs typeface="+mn-cs"/>
        </a:defRPr>
      </a:lvl2pPr>
      <a:lvl3pPr marL="1143000" indent="-228600" algn="l" defTabSz="457200" rtl="0">
        <a:spcBef>
          <a:spcPts val="0"/>
        </a:spcBef>
        <a:buFont typeface="Arial"/>
        <a:buChar char="•"/>
        <a:defRPr sz="2400">
          <a:solidFill>
            <a:schemeClr val="tx1"/>
          </a:solidFill>
          <a:latin typeface="+mn-lt"/>
          <a:ea typeface="+mn-ea"/>
          <a:cs typeface="+mn-cs"/>
        </a:defRPr>
      </a:lvl3pPr>
      <a:lvl4pPr marL="1600200" indent="-228600" algn="l" defTabSz="457200" rtl="0">
        <a:spcBef>
          <a:spcPts val="0"/>
        </a:spcBef>
        <a:buFont typeface="Arial"/>
        <a:buChar char="–"/>
        <a:defRPr sz="2000">
          <a:solidFill>
            <a:schemeClr val="tx1"/>
          </a:solidFill>
          <a:latin typeface="+mn-lt"/>
          <a:ea typeface="+mn-ea"/>
          <a:cs typeface="+mn-cs"/>
        </a:defRPr>
      </a:lvl4pPr>
      <a:lvl5pPr marL="2057400" indent="-228600" algn="l" defTabSz="457200" rtl="0">
        <a:spcBef>
          <a:spcPts val="0"/>
        </a:spcBef>
        <a:buFont typeface="Arial"/>
        <a:buChar char="»"/>
        <a:defRPr sz="2000">
          <a:solidFill>
            <a:schemeClr val="tx1"/>
          </a:solidFill>
          <a:latin typeface="+mn-lt"/>
          <a:ea typeface="+mn-ea"/>
          <a:cs typeface="+mn-cs"/>
        </a:defRPr>
      </a:lvl5pPr>
      <a:lvl6pPr marL="2514600" indent="-228600" algn="l" defTabSz="457200" rtl="0">
        <a:spcBef>
          <a:spcPts val="0"/>
        </a:spcBef>
        <a:buFont typeface="Arial"/>
        <a:buChar char="•"/>
        <a:defRPr sz="2000">
          <a:solidFill>
            <a:schemeClr val="tx1"/>
          </a:solidFill>
          <a:latin typeface="+mn-lt"/>
          <a:ea typeface="+mn-ea"/>
          <a:cs typeface="+mn-cs"/>
        </a:defRPr>
      </a:lvl6pPr>
      <a:lvl7pPr marL="2971800" indent="-228600" algn="l" defTabSz="457200" rtl="0">
        <a:spcBef>
          <a:spcPts val="0"/>
        </a:spcBef>
        <a:buFont typeface="Arial"/>
        <a:buChar char="•"/>
        <a:defRPr sz="2000">
          <a:solidFill>
            <a:schemeClr val="tx1"/>
          </a:solidFill>
          <a:latin typeface="+mn-lt"/>
          <a:ea typeface="+mn-ea"/>
          <a:cs typeface="+mn-cs"/>
        </a:defRPr>
      </a:lvl7pPr>
      <a:lvl8pPr marL="3429000" indent="-228600" algn="l" defTabSz="457200" rtl="0">
        <a:spcBef>
          <a:spcPts val="0"/>
        </a:spcBef>
        <a:buFont typeface="Arial"/>
        <a:buChar char="•"/>
        <a:defRPr sz="2000">
          <a:solidFill>
            <a:schemeClr val="tx1"/>
          </a:solidFill>
          <a:latin typeface="+mn-lt"/>
          <a:ea typeface="+mn-ea"/>
          <a:cs typeface="+mn-cs"/>
        </a:defRPr>
      </a:lvl8pPr>
      <a:lvl9pPr marL="3886200" indent="-228600" algn="l" defTabSz="4572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bg>
      <p:bgPr>
        <a:solidFill>
          <a:srgbClr val="FFFFFF"/>
        </a:solidFill>
        <a:effectLst/>
      </p:bgPr>
    </p:bg>
    <p:spTree>
      <p:nvGrpSpPr>
        <p:cNvPr id="1" name=""/>
        <p:cNvGrpSpPr/>
        <p:nvPr/>
      </p:nvGrpSpPr>
      <p:grpSpPr bwMode="auto">
        <a:xfrm>
          <a:off x="0" y="0"/>
          <a:ext cx="0" cy="0"/>
          <a:chOff x="0" y="0"/>
          <a:chExt cx="0" cy="0"/>
        </a:xfrm>
      </p:grpSpPr>
      <p:pic>
        <p:nvPicPr>
          <p:cNvPr id="1291975550" name="Picture 1" descr="image.png"/>
          <p:cNvPicPr>
            <a:picLocks noChangeAspect="1"/>
          </p:cNvPicPr>
          <p:nvPr/>
        </p:nvPicPr>
        <p:blipFill rotWithShape="1">
          <a:blip r:embed="rId3"/>
          <a:stretch/>
        </p:blipFill>
        <p:spPr bwMode="auto">
          <a:xfrm>
            <a:off x="0" y="0"/>
            <a:ext cx="12192000" cy="6858000"/>
          </a:xfrm>
          <a:prstGeom prst="rect">
            <a:avLst/>
          </a:prstGeom>
        </p:spPr>
      </p:pic>
      <p:sp>
        <p:nvSpPr>
          <p:cNvPr id="1359616857" name="TextBox 2"/>
          <p:cNvSpPr txBox="1"/>
          <p:nvPr/>
        </p:nvSpPr>
        <p:spPr bwMode="auto">
          <a:xfrm>
            <a:off x="1274685" y="2458352"/>
            <a:ext cx="10731419" cy="1846659"/>
          </a:xfrm>
          <a:prstGeom prst="rect">
            <a:avLst/>
          </a:prstGeom>
          <a:noFill/>
        </p:spPr>
        <p:txBody>
          <a:bodyPr wrap="square" lIns="0" tIns="0" rIns="0" bIns="0" anchor="t">
            <a:spAutoFit/>
          </a:bodyPr>
          <a:lstStyle/>
          <a:p>
            <a:pPr algn="ctr">
              <a:defRPr/>
            </a:pPr>
            <a:r>
              <a:rPr sz="4000" b="1">
                <a:latin typeface="Montserrat"/>
              </a:rPr>
              <a:t>Real-Time Banking Transaction Analytics &amp; Anomaly Monitoring Platform</a:t>
            </a:r>
            <a:endParaRPr/>
          </a:p>
        </p:txBody>
      </p:sp>
      <p:sp>
        <p:nvSpPr>
          <p:cNvPr id="215846398" name="TextBox 3"/>
          <p:cNvSpPr txBox="1"/>
          <p:nvPr/>
        </p:nvSpPr>
        <p:spPr bwMode="auto">
          <a:xfrm>
            <a:off x="1219199" y="3874739"/>
            <a:ext cx="10211879" cy="384080"/>
          </a:xfrm>
          <a:prstGeom prst="rect">
            <a:avLst/>
          </a:prstGeom>
          <a:noFill/>
        </p:spPr>
        <p:txBody>
          <a:bodyPr wrap="square" lIns="0" tIns="0" rIns="0" bIns="0" anchor="t">
            <a:spAutoFit/>
          </a:bodyPr>
          <a:lstStyle/>
          <a:p>
            <a:pPr algn="ctr">
              <a:lnSpc>
                <a:spcPts val="3359"/>
              </a:lnSpc>
              <a:defRPr/>
            </a:pPr>
            <a:endParaRPr>
              <a:latin typeface="Montserrat"/>
            </a:endParaRPr>
          </a:p>
        </p:txBody>
      </p:sp>
      <p:sp>
        <p:nvSpPr>
          <p:cNvPr id="1738550049" name="TextBox 1418755262"/>
          <p:cNvSpPr txBox="1"/>
          <p:nvPr/>
        </p:nvSpPr>
        <p:spPr bwMode="auto">
          <a:xfrm>
            <a:off x="4731783" y="701978"/>
            <a:ext cx="3377083" cy="377796"/>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ctr">
              <a:defRPr/>
            </a:pPr>
            <a:r>
              <a:rPr dirty="0">
                <a:latin typeface="Montserrat"/>
              </a:rPr>
              <a:t>Project Review </a:t>
            </a:r>
            <a:r>
              <a:rPr lang="en-US" dirty="0">
                <a:latin typeface="Montserrat"/>
              </a:rPr>
              <a:t>4</a:t>
            </a:r>
            <a:endParaRPr dirty="0"/>
          </a:p>
        </p:txBody>
      </p:sp>
      <p:sp>
        <p:nvSpPr>
          <p:cNvPr id="240407764" name="TextBox 1498718319"/>
          <p:cNvSpPr txBox="1"/>
          <p:nvPr/>
        </p:nvSpPr>
        <p:spPr bwMode="auto">
          <a:xfrm>
            <a:off x="4684370" y="1092574"/>
            <a:ext cx="3471192" cy="377796"/>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ctr">
              <a:defRPr/>
            </a:pPr>
            <a:r>
              <a:rPr dirty="0">
                <a:latin typeface="Montserrat"/>
              </a:rPr>
              <a:t>Course Code 24DEA3101</a:t>
            </a:r>
            <a:endParaRPr dirty="0"/>
          </a:p>
        </p:txBody>
      </p:sp>
      <p:sp>
        <p:nvSpPr>
          <p:cNvPr id="301923422" name="TextBox 1693129719"/>
          <p:cNvSpPr txBox="1"/>
          <p:nvPr/>
        </p:nvSpPr>
        <p:spPr bwMode="auto">
          <a:xfrm>
            <a:off x="2906100" y="4547400"/>
            <a:ext cx="7260209" cy="1234184"/>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ctr">
              <a:defRPr/>
            </a:pPr>
            <a:r>
              <a:rPr dirty="0">
                <a:latin typeface="Montserrat"/>
              </a:rPr>
              <a:t>FDE TEAM 21</a:t>
            </a:r>
            <a:endParaRPr dirty="0"/>
          </a:p>
          <a:p>
            <a:pPr algn="ctr">
              <a:defRPr/>
            </a:pPr>
            <a:r>
              <a:rPr dirty="0">
                <a:latin typeface="Montserrat"/>
              </a:rPr>
              <a:t>B Raghu Nandan 2420030058</a:t>
            </a:r>
            <a:endParaRPr dirty="0"/>
          </a:p>
          <a:p>
            <a:pPr algn="ctr">
              <a:defRPr/>
            </a:pPr>
            <a:r>
              <a:rPr dirty="0">
                <a:latin typeface="Montserrat"/>
              </a:rPr>
              <a:t>C Pravin Sai 2420030777</a:t>
            </a:r>
            <a:endParaRPr dirty="0"/>
          </a:p>
          <a:p>
            <a:pPr algn="ctr">
              <a:defRPr/>
            </a:pPr>
            <a:r>
              <a:rPr dirty="0">
                <a:latin typeface="Montserrat"/>
              </a:rPr>
              <a:t>J Hemanth 2420039805</a:t>
            </a:r>
            <a:endParaRPr dirty="0"/>
          </a:p>
        </p:txBody>
      </p:sp>
      <p:sp>
        <p:nvSpPr>
          <p:cNvPr id="2075348049" name="TextBox 1921049423"/>
          <p:cNvSpPr txBox="1"/>
          <p:nvPr/>
        </p:nvSpPr>
        <p:spPr bwMode="auto">
          <a:xfrm>
            <a:off x="4731784" y="1395739"/>
            <a:ext cx="3376364" cy="65517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ctr">
              <a:defRPr/>
            </a:pPr>
            <a:r>
              <a:rPr>
                <a:latin typeface="Montserrat"/>
              </a:rPr>
              <a:t>Faculty : Dr. N. Shirisha </a:t>
            </a:r>
            <a:endParaRPr/>
          </a:p>
          <a:p>
            <a:pPr algn="ctr">
              <a:defRPr/>
            </a:pPr>
            <a:r>
              <a:rPr>
                <a:latin typeface="Montserrat"/>
              </a:rPr>
              <a:t>Associate Professor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bg>
      <p:bgPr>
        <a:solidFill>
          <a:srgbClr val="FFFFFF"/>
        </a:solidFill>
        <a:effectLst/>
      </p:bgPr>
    </p:bg>
    <p:spTree>
      <p:nvGrpSpPr>
        <p:cNvPr id="1" name=""/>
        <p:cNvGrpSpPr/>
        <p:nvPr/>
      </p:nvGrpSpPr>
      <p:grpSpPr bwMode="auto">
        <a:xfrm>
          <a:off x="0" y="0"/>
          <a:ext cx="0" cy="0"/>
          <a:chOff x="0" y="0"/>
          <a:chExt cx="0" cy="0"/>
        </a:xfrm>
      </p:grpSpPr>
      <p:sp>
        <p:nvSpPr>
          <p:cNvPr id="1454979347" name="TextBox 2"/>
          <p:cNvSpPr txBox="1"/>
          <p:nvPr/>
        </p:nvSpPr>
        <p:spPr bwMode="auto">
          <a:xfrm>
            <a:off x="670560" y="387857"/>
            <a:ext cx="11201400" cy="615553"/>
          </a:xfrm>
          <a:prstGeom prst="rect">
            <a:avLst/>
          </a:prstGeom>
          <a:noFill/>
        </p:spPr>
        <p:txBody>
          <a:bodyPr wrap="square" lIns="0" tIns="0" rIns="0" bIns="0" anchor="t">
            <a:spAutoFit/>
          </a:bodyPr>
          <a:lstStyle/>
          <a:p>
            <a:r>
              <a:rPr lang="en-IN" sz="4000" b="1" dirty="0">
                <a:solidFill>
                  <a:srgbClr val="000000"/>
                </a:solidFill>
                <a:latin typeface="Montserrat" pitchFamily="2" charset="0"/>
              </a:rPr>
              <a:t>ABSTRACT</a:t>
            </a:r>
          </a:p>
        </p:txBody>
      </p:sp>
      <p:sp>
        <p:nvSpPr>
          <p:cNvPr id="1380843219" name="Rectangle 3"/>
          <p:cNvSpPr/>
          <p:nvPr/>
        </p:nvSpPr>
        <p:spPr bwMode="auto">
          <a:xfrm>
            <a:off x="670560" y="1084042"/>
            <a:ext cx="10668000" cy="28575"/>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latin typeface="Montserrat" pitchFamily="2" charset="0"/>
            </a:endParaRPr>
          </a:p>
        </p:txBody>
      </p:sp>
      <p:sp>
        <p:nvSpPr>
          <p:cNvPr id="5" name="TextBox 4">
            <a:extLst>
              <a:ext uri="{FF2B5EF4-FFF2-40B4-BE49-F238E27FC236}">
                <a16:creationId xmlns:a16="http://schemas.microsoft.com/office/drawing/2014/main" id="{7F37E8A7-31F7-0F28-D127-72CA77441A65}"/>
              </a:ext>
            </a:extLst>
          </p:cNvPr>
          <p:cNvSpPr txBox="1"/>
          <p:nvPr/>
        </p:nvSpPr>
        <p:spPr>
          <a:xfrm>
            <a:off x="670561" y="1407219"/>
            <a:ext cx="10668000" cy="5062924"/>
          </a:xfrm>
          <a:prstGeom prst="rect">
            <a:avLst/>
          </a:prstGeom>
          <a:noFill/>
        </p:spPr>
        <p:txBody>
          <a:bodyPr wrap="square" anchor="ctr">
            <a:spAutoFit/>
          </a:bodyPr>
          <a:lstStyle/>
          <a:p>
            <a:pPr algn="just"/>
            <a:r>
              <a:rPr lang="en-IN" sz="1900" dirty="0" err="1">
                <a:latin typeface="Montserrat" pitchFamily="2" charset="0"/>
              </a:rPr>
              <a:t>BankFlow</a:t>
            </a:r>
            <a:r>
              <a:rPr lang="en-IN" sz="1900" dirty="0">
                <a:latin typeface="Montserrat" pitchFamily="2" charset="0"/>
              </a:rPr>
              <a:t> Analytics is an end-to-end data engineering project that captures and processes synthetic banking transaction data in real time. The system uses a Python-based generator to create realistic transaction events, Apache Kafka to stream them reliably, and </a:t>
            </a:r>
            <a:r>
              <a:rPr lang="en-IN" sz="1900" dirty="0" err="1">
                <a:latin typeface="Montserrat" pitchFamily="2" charset="0"/>
              </a:rPr>
              <a:t>PySpark</a:t>
            </a:r>
            <a:r>
              <a:rPr lang="en-IN" sz="1900" dirty="0">
                <a:latin typeface="Montserrat" pitchFamily="2" charset="0"/>
              </a:rPr>
              <a:t> Structured Streaming to validate, deduplicate, and enrich each transaction with rolling-window features. A rule-based, fully explainable anomaly detection engine scores every transaction using weighted signals such as unusually high amounts, transaction bursts, repeated failures, location jumps, new devices, and unusual hours, and any record that fails schema or business validation is automatically routed to a separate quarantine layer instead of breaking the pipeline. Valid, enriched records are written to Bronze and Silver Delta Lake tables and are subsequently loaded into a SQLite-based Gold layer organised as a star schema with dimension, fact, and KPI tables. The complete ingestion-to-warehouse pipeline was containerised using Docker and executed end-to-end with a live Kafka broker and a live Spark Structured Streaming job, and the resulting Gold warehouse was verified and queried directly using SQL. This project demonstrates a working, reproducible real-time analytics pipeline and lays the foundation for future orchestration and dashboarding layers.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66179717" name="TextBox 1908527671"/>
          <p:cNvSpPr txBox="1"/>
          <p:nvPr/>
        </p:nvSpPr>
        <p:spPr bwMode="auto">
          <a:xfrm>
            <a:off x="560832" y="255864"/>
            <a:ext cx="5274612" cy="717632"/>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IN" sz="4000" b="1" dirty="0">
                <a:solidFill>
                  <a:srgbClr val="000000"/>
                </a:solidFill>
                <a:latin typeface="Montserrat" pitchFamily="2" charset="0"/>
              </a:rPr>
              <a:t>INTRODUCTION</a:t>
            </a:r>
          </a:p>
        </p:txBody>
      </p:sp>
      <p:sp>
        <p:nvSpPr>
          <p:cNvPr id="587607688" name="Rectangle 3"/>
          <p:cNvSpPr/>
          <p:nvPr/>
        </p:nvSpPr>
        <p:spPr bwMode="auto">
          <a:xfrm>
            <a:off x="670560" y="1084042"/>
            <a:ext cx="10668000" cy="28575"/>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latin typeface="Montserrat" pitchFamily="2" charset="0"/>
            </a:endParaRPr>
          </a:p>
        </p:txBody>
      </p:sp>
      <p:sp>
        <p:nvSpPr>
          <p:cNvPr id="5" name="TextBox 4">
            <a:extLst>
              <a:ext uri="{FF2B5EF4-FFF2-40B4-BE49-F238E27FC236}">
                <a16:creationId xmlns:a16="http://schemas.microsoft.com/office/drawing/2014/main" id="{BD7ACC01-8756-98F4-C3F9-6AD07C284A58}"/>
              </a:ext>
            </a:extLst>
          </p:cNvPr>
          <p:cNvSpPr txBox="1"/>
          <p:nvPr/>
        </p:nvSpPr>
        <p:spPr>
          <a:xfrm>
            <a:off x="710552" y="1412837"/>
            <a:ext cx="10628008" cy="4708981"/>
          </a:xfrm>
          <a:prstGeom prst="rect">
            <a:avLst/>
          </a:prstGeom>
          <a:noFill/>
        </p:spPr>
        <p:txBody>
          <a:bodyPr wrap="square" anchor="ctr">
            <a:spAutoFit/>
          </a:bodyPr>
          <a:lstStyle/>
          <a:p>
            <a:pPr algn="just"/>
            <a:r>
              <a:rPr lang="en-IN" sz="2000" dirty="0">
                <a:latin typeface="Montserrat" pitchFamily="2" charset="0"/>
              </a:rPr>
              <a:t>Digital banking platforms continuously generate transaction data through activities such as transfers, UPI payments, card payments, ATM withdrawals, deposits, and bill payments. Understanding this data as it arrives, rather than after the fact, is important for spotting unusual account behaviour early and for keeping downstream reporting fresh. This project, </a:t>
            </a:r>
            <a:r>
              <a:rPr lang="en-IN" sz="2000" dirty="0" err="1">
                <a:latin typeface="Montserrat" pitchFamily="2" charset="0"/>
              </a:rPr>
              <a:t>BankFlow</a:t>
            </a:r>
            <a:r>
              <a:rPr lang="en-IN" sz="2000" dirty="0">
                <a:latin typeface="Montserrat" pitchFamily="2" charset="0"/>
              </a:rPr>
              <a:t> Analytics, builds a real-time pipeline that generates synthetic transaction events, streams them through Apache Kafka, and processes them with </a:t>
            </a:r>
            <a:r>
              <a:rPr lang="en-IN" sz="2000" dirty="0" err="1">
                <a:latin typeface="Montserrat" pitchFamily="2" charset="0"/>
              </a:rPr>
              <a:t>PySpark</a:t>
            </a:r>
            <a:r>
              <a:rPr lang="en-IN" sz="2000" dirty="0">
                <a:latin typeface="Montserrat" pitchFamily="2" charset="0"/>
              </a:rPr>
              <a:t> Structured Streaming. Every transaction is validated against a canonical schema, cleaned, deduplicated, and scored for anomalies using transparent, rule-based logic rather than a black-box model, so that every flag comes with a plain-language reason. Valid data flows into a Bronze and Silver Delta Lake, and is further summarised into a Gold-layer star schema in SQLite for analytical querying. The goal of this review is to demonstrate that this pipeline runs correctly end-to-end, from data generation through to a </a:t>
            </a:r>
            <a:r>
              <a:rPr lang="en-IN" sz="2000" dirty="0" err="1">
                <a:latin typeface="Montserrat" pitchFamily="2" charset="0"/>
              </a:rPr>
              <a:t>queryable</a:t>
            </a:r>
            <a:r>
              <a:rPr lang="en-IN" sz="2000" dirty="0">
                <a:latin typeface="Montserrat" pitchFamily="2" charset="0"/>
              </a:rPr>
              <a:t> warehouse, using real Kafka and Spark infrastructure rather than a simulated stand-in.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bg>
      <p:bgPr>
        <a:solidFill>
          <a:srgbClr val="FFFFFF"/>
        </a:solidFill>
        <a:effectLst/>
      </p:bgPr>
    </p:bg>
    <p:spTree>
      <p:nvGrpSpPr>
        <p:cNvPr id="1" name=""/>
        <p:cNvGrpSpPr/>
        <p:nvPr/>
      </p:nvGrpSpPr>
      <p:grpSpPr bwMode="auto">
        <a:xfrm>
          <a:off x="0" y="0"/>
          <a:ext cx="0" cy="0"/>
          <a:chOff x="0" y="0"/>
          <a:chExt cx="0" cy="0"/>
        </a:xfrm>
      </p:grpSpPr>
      <p:sp>
        <p:nvSpPr>
          <p:cNvPr id="332639472" name="TextBox 3"/>
          <p:cNvSpPr txBox="1"/>
          <p:nvPr/>
        </p:nvSpPr>
        <p:spPr bwMode="auto">
          <a:xfrm>
            <a:off x="560830" y="290340"/>
            <a:ext cx="11211838" cy="615553"/>
          </a:xfrm>
          <a:prstGeom prst="rect">
            <a:avLst/>
          </a:prstGeom>
          <a:noFill/>
        </p:spPr>
        <p:txBody>
          <a:bodyPr wrap="square" lIns="0" tIns="0" rIns="0" bIns="0" anchor="t">
            <a:spAutoFit/>
          </a:bodyPr>
          <a:lstStyle/>
          <a:p>
            <a:pPr>
              <a:defRPr/>
            </a:pPr>
            <a:r>
              <a:rPr lang="en-IN" sz="4000" b="1" dirty="0">
                <a:latin typeface="Montserrat"/>
                <a:ea typeface="Montserrat"/>
                <a:cs typeface="Montserrat"/>
              </a:rPr>
              <a:t>LITERATURE SURVEY</a:t>
            </a:r>
            <a:endParaRPr sz="4400" b="1" dirty="0">
              <a:latin typeface="Montserrat"/>
              <a:cs typeface="Montserrat"/>
            </a:endParaRPr>
          </a:p>
        </p:txBody>
      </p:sp>
      <p:sp>
        <p:nvSpPr>
          <p:cNvPr id="1678796799" name="TextBox 5"/>
          <p:cNvSpPr txBox="1"/>
          <p:nvPr/>
        </p:nvSpPr>
        <p:spPr bwMode="auto">
          <a:xfrm>
            <a:off x="761998" y="1064413"/>
            <a:ext cx="4790956" cy="274678"/>
          </a:xfrm>
          <a:prstGeom prst="rect">
            <a:avLst/>
          </a:prstGeom>
          <a:noFill/>
        </p:spPr>
        <p:txBody>
          <a:bodyPr wrap="square" lIns="0" tIns="0" rIns="0" bIns="0" anchor="t">
            <a:spAutoFit/>
          </a:bodyPr>
          <a:lstStyle/>
          <a:p>
            <a:pPr algn="l">
              <a:defRPr/>
            </a:pPr>
            <a:endParaRPr>
              <a:latin typeface="Montserrat"/>
            </a:endParaRPr>
          </a:p>
        </p:txBody>
      </p:sp>
      <p:sp>
        <p:nvSpPr>
          <p:cNvPr id="653131445" name="TextBox 8"/>
          <p:cNvSpPr txBox="1"/>
          <p:nvPr/>
        </p:nvSpPr>
        <p:spPr bwMode="auto">
          <a:xfrm>
            <a:off x="1143000" y="4115097"/>
            <a:ext cx="4667608" cy="335988"/>
          </a:xfrm>
          <a:prstGeom prst="rect">
            <a:avLst/>
          </a:prstGeom>
          <a:noFill/>
        </p:spPr>
        <p:txBody>
          <a:bodyPr wrap="square" lIns="0" tIns="0" rIns="0" bIns="0" anchor="t">
            <a:spAutoFit/>
          </a:bodyPr>
          <a:lstStyle/>
          <a:p>
            <a:pPr algn="l">
              <a:lnSpc>
                <a:spcPts val="2878"/>
              </a:lnSpc>
              <a:defRPr/>
            </a:pPr>
            <a:endParaRPr>
              <a:latin typeface="Montserrat"/>
            </a:endParaRPr>
          </a:p>
        </p:txBody>
      </p:sp>
      <p:sp>
        <p:nvSpPr>
          <p:cNvPr id="272274488" name="TextBox 9"/>
          <p:cNvSpPr txBox="1"/>
          <p:nvPr/>
        </p:nvSpPr>
        <p:spPr bwMode="auto">
          <a:xfrm>
            <a:off x="1143000" y="5450232"/>
            <a:ext cx="4667608" cy="335988"/>
          </a:xfrm>
          <a:prstGeom prst="rect">
            <a:avLst/>
          </a:prstGeom>
          <a:noFill/>
        </p:spPr>
        <p:txBody>
          <a:bodyPr wrap="square" lIns="0" tIns="0" rIns="0" bIns="0" anchor="t">
            <a:spAutoFit/>
          </a:bodyPr>
          <a:lstStyle/>
          <a:p>
            <a:pPr algn="l">
              <a:lnSpc>
                <a:spcPts val="2878"/>
              </a:lnSpc>
              <a:defRPr/>
            </a:pPr>
            <a:endParaRPr>
              <a:latin typeface="Montserrat"/>
            </a:endParaRPr>
          </a:p>
        </p:txBody>
      </p:sp>
      <p:sp>
        <p:nvSpPr>
          <p:cNvPr id="1708776231" name="TextBox 10"/>
          <p:cNvSpPr txBox="1"/>
          <p:nvPr/>
        </p:nvSpPr>
        <p:spPr bwMode="auto">
          <a:xfrm>
            <a:off x="6762748" y="4115097"/>
            <a:ext cx="4667608" cy="335988"/>
          </a:xfrm>
          <a:prstGeom prst="rect">
            <a:avLst/>
          </a:prstGeom>
          <a:noFill/>
        </p:spPr>
        <p:txBody>
          <a:bodyPr wrap="square" lIns="0" tIns="0" rIns="0" bIns="0" anchor="t">
            <a:spAutoFit/>
          </a:bodyPr>
          <a:lstStyle/>
          <a:p>
            <a:pPr algn="l">
              <a:lnSpc>
                <a:spcPts val="2878"/>
              </a:lnSpc>
              <a:defRPr/>
            </a:pPr>
            <a:endParaRPr>
              <a:latin typeface="Montserrat"/>
            </a:endParaRPr>
          </a:p>
        </p:txBody>
      </p:sp>
      <p:sp>
        <p:nvSpPr>
          <p:cNvPr id="1775688052" name="TextBox 11"/>
          <p:cNvSpPr txBox="1"/>
          <p:nvPr/>
        </p:nvSpPr>
        <p:spPr bwMode="auto">
          <a:xfrm>
            <a:off x="6762748" y="5450232"/>
            <a:ext cx="4667608" cy="335988"/>
          </a:xfrm>
          <a:prstGeom prst="rect">
            <a:avLst/>
          </a:prstGeom>
          <a:noFill/>
        </p:spPr>
        <p:txBody>
          <a:bodyPr wrap="square" lIns="0" tIns="0" rIns="0" bIns="0" anchor="t">
            <a:spAutoFit/>
          </a:bodyPr>
          <a:lstStyle/>
          <a:p>
            <a:pPr algn="l">
              <a:lnSpc>
                <a:spcPts val="2878"/>
              </a:lnSpc>
              <a:defRPr/>
            </a:pPr>
            <a:endParaRPr>
              <a:latin typeface="Montserrat"/>
            </a:endParaRPr>
          </a:p>
        </p:txBody>
      </p:sp>
      <p:sp>
        <p:nvSpPr>
          <p:cNvPr id="182589584" name="Rectangle 3"/>
          <p:cNvSpPr/>
          <p:nvPr/>
        </p:nvSpPr>
        <p:spPr bwMode="auto">
          <a:xfrm>
            <a:off x="560830" y="1008328"/>
            <a:ext cx="10667999" cy="28575"/>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latin typeface="Montserrat"/>
            </a:endParaRPr>
          </a:p>
        </p:txBody>
      </p:sp>
      <p:sp>
        <p:nvSpPr>
          <p:cNvPr id="2" name="TextBox 1">
            <a:extLst>
              <a:ext uri="{FF2B5EF4-FFF2-40B4-BE49-F238E27FC236}">
                <a16:creationId xmlns:a16="http://schemas.microsoft.com/office/drawing/2014/main" id="{B8120F87-913E-8BDB-E883-503A57072410}"/>
              </a:ext>
            </a:extLst>
          </p:cNvPr>
          <p:cNvSpPr txBox="1"/>
          <p:nvPr/>
        </p:nvSpPr>
        <p:spPr>
          <a:xfrm>
            <a:off x="623314" y="1366601"/>
            <a:ext cx="10543029" cy="5062924"/>
          </a:xfrm>
          <a:prstGeom prst="rect">
            <a:avLst/>
          </a:prstGeom>
          <a:noFill/>
        </p:spPr>
        <p:txBody>
          <a:bodyPr wrap="square" rtlCol="0">
            <a:spAutoFit/>
          </a:bodyPr>
          <a:lstStyle/>
          <a:p>
            <a:pPr algn="just"/>
            <a:r>
              <a:rPr lang="en-IN" sz="1700" dirty="0">
                <a:latin typeface="Montserrat" pitchFamily="2" charset="0"/>
              </a:rPr>
              <a:t>Several recent works have explored real-time transaction monitoring and fraud or anomaly detection. Work on near real-time anomaly detection using a Lambda Architecture highlights that maintaining separate batch, speed, and serving layers increases operational complexity, and suggests a simpler, unified layered approach such as the Medallion architecture used in </a:t>
            </a:r>
            <a:r>
              <a:rPr lang="en-IN" sz="1700" dirty="0" err="1">
                <a:latin typeface="Montserrat" pitchFamily="2" charset="0"/>
              </a:rPr>
              <a:t>BankFlow</a:t>
            </a:r>
            <a:r>
              <a:rPr lang="en-IN" sz="1700" dirty="0">
                <a:latin typeface="Montserrat" pitchFamily="2" charset="0"/>
              </a:rPr>
              <a:t> Analytics. Other studies on real-time fraud detection using machine learning discuss modelling approaches but do not integrate a complete pipeline covering ingestion, validation, storage, and reporting. Work focused on real-time financial data processing with Apache Spark and Kafka concentrates mainly on stream-processing performance and gives limited attention to handling invalid or malformed records, motivating </a:t>
            </a:r>
            <a:r>
              <a:rPr lang="en-IN" sz="1700" dirty="0" err="1">
                <a:latin typeface="Montserrat" pitchFamily="2" charset="0"/>
              </a:rPr>
              <a:t>BankFlow's</a:t>
            </a:r>
            <a:r>
              <a:rPr lang="en-IN" sz="1700" dirty="0">
                <a:latin typeface="Montserrat" pitchFamily="2" charset="0"/>
              </a:rPr>
              <a:t> dedicated Quarantine layer. Alternative implementations built on Kafka Streams with Spring Boot, or on managed commercial streaming platforms, demonstrate real-time fraud detection but rely on frameworks outside the open-source Kafka-Spark ecosystem used here. Broader surveys of streaming and time-series anomaly detection, along with scalable frameworks such as SCARFF for credit-card fraud detection with Spark, confirm that streaming anomaly detection is an active research area, but existing academic implementations rarely combine real-time ingestion, explainable rule-based anomaly scoring, a dedicated invalid-record quarantine layer, and a </a:t>
            </a:r>
            <a:r>
              <a:rPr lang="en-IN" sz="1700" dirty="0" err="1">
                <a:latin typeface="Montserrat" pitchFamily="2" charset="0"/>
              </a:rPr>
              <a:t>queryable</a:t>
            </a:r>
            <a:r>
              <a:rPr lang="en-IN" sz="1700" dirty="0">
                <a:latin typeface="Montserrat" pitchFamily="2" charset="0"/>
              </a:rPr>
              <a:t> analytical warehouse in a single, reproducible, open-source pipeline. </a:t>
            </a:r>
            <a:r>
              <a:rPr lang="en-IN" sz="1700" dirty="0" err="1">
                <a:latin typeface="Montserrat" pitchFamily="2" charset="0"/>
              </a:rPr>
              <a:t>BankFlow</a:t>
            </a:r>
            <a:r>
              <a:rPr lang="en-IN" sz="1700" dirty="0">
                <a:latin typeface="Montserrat" pitchFamily="2" charset="0"/>
              </a:rPr>
              <a:t> Analytics addresses this gap by integrating these components into one containerised, end-to-end system.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bg>
      <p:bgPr>
        <a:solidFill>
          <a:srgbClr val="FFFFFF"/>
        </a:solidFill>
        <a:effectLst/>
      </p:bgPr>
    </p:bg>
    <p:spTree>
      <p:nvGrpSpPr>
        <p:cNvPr id="1" name="">
          <a:extLst>
            <a:ext uri="{FF2B5EF4-FFF2-40B4-BE49-F238E27FC236}">
              <a16:creationId xmlns:a16="http://schemas.microsoft.com/office/drawing/2014/main" id="{5218D008-47D7-F7A7-D42D-585FA09D6889}"/>
            </a:ext>
          </a:extLst>
        </p:cNvPr>
        <p:cNvGrpSpPr/>
        <p:nvPr/>
      </p:nvGrpSpPr>
      <p:grpSpPr bwMode="auto">
        <a:xfrm>
          <a:off x="0" y="0"/>
          <a:ext cx="0" cy="0"/>
          <a:chOff x="0" y="0"/>
          <a:chExt cx="0" cy="0"/>
        </a:xfrm>
      </p:grpSpPr>
      <p:sp>
        <p:nvSpPr>
          <p:cNvPr id="878604334" name="TextBox 739767261">
            <a:extLst>
              <a:ext uri="{FF2B5EF4-FFF2-40B4-BE49-F238E27FC236}">
                <a16:creationId xmlns:a16="http://schemas.microsoft.com/office/drawing/2014/main" id="{A6BF147E-5E5E-3030-0703-8F0486CAB3AE}"/>
              </a:ext>
            </a:extLst>
          </p:cNvPr>
          <p:cNvSpPr txBox="1"/>
          <p:nvPr/>
        </p:nvSpPr>
        <p:spPr bwMode="auto">
          <a:xfrm>
            <a:off x="540512" y="324118"/>
            <a:ext cx="12370354" cy="655116"/>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3600" b="1" dirty="0">
                <a:solidFill>
                  <a:srgbClr val="000000"/>
                </a:solidFill>
                <a:latin typeface="Montserrat" pitchFamily="2" charset="0"/>
              </a:rPr>
              <a:t>METHODOLOGY</a:t>
            </a:r>
          </a:p>
        </p:txBody>
      </p:sp>
      <p:sp>
        <p:nvSpPr>
          <p:cNvPr id="438249054" name="Rectangle 3">
            <a:extLst>
              <a:ext uri="{FF2B5EF4-FFF2-40B4-BE49-F238E27FC236}">
                <a16:creationId xmlns:a16="http://schemas.microsoft.com/office/drawing/2014/main" id="{32512511-5094-FA6B-92BE-A114374D7B5A}"/>
              </a:ext>
            </a:extLst>
          </p:cNvPr>
          <p:cNvSpPr/>
          <p:nvPr/>
        </p:nvSpPr>
        <p:spPr bwMode="auto">
          <a:xfrm>
            <a:off x="670560" y="1084042"/>
            <a:ext cx="10668000" cy="28575"/>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latin typeface="Montserrat" pitchFamily="2" charset="0"/>
            </a:endParaRPr>
          </a:p>
        </p:txBody>
      </p:sp>
      <p:sp>
        <p:nvSpPr>
          <p:cNvPr id="5" name="TextBox 4">
            <a:extLst>
              <a:ext uri="{FF2B5EF4-FFF2-40B4-BE49-F238E27FC236}">
                <a16:creationId xmlns:a16="http://schemas.microsoft.com/office/drawing/2014/main" id="{4ACCE785-5AEF-45D6-2764-A0AF694F608C}"/>
              </a:ext>
            </a:extLst>
          </p:cNvPr>
          <p:cNvSpPr txBox="1"/>
          <p:nvPr/>
        </p:nvSpPr>
        <p:spPr>
          <a:xfrm>
            <a:off x="710184" y="1322233"/>
            <a:ext cx="10628376" cy="5078313"/>
          </a:xfrm>
          <a:prstGeom prst="rect">
            <a:avLst/>
          </a:prstGeom>
          <a:noFill/>
        </p:spPr>
        <p:txBody>
          <a:bodyPr wrap="square" anchor="ctr">
            <a:spAutoFit/>
          </a:bodyPr>
          <a:lstStyle/>
          <a:p>
            <a:pPr marL="285750" indent="-285750">
              <a:buFont typeface="Arial" panose="020B0604020202020204" pitchFamily="34" charset="0"/>
              <a:buChar char="•"/>
            </a:pPr>
            <a:r>
              <a:rPr lang="en-IN" b="1" dirty="0">
                <a:latin typeface="Montserrat" pitchFamily="2" charset="0"/>
              </a:rPr>
              <a:t>Data Generation</a:t>
            </a:r>
            <a:r>
              <a:rPr lang="en-IN" dirty="0">
                <a:latin typeface="Montserrat" pitchFamily="2" charset="0"/>
              </a:rPr>
              <a:t> — Python (with Faker) generates synthetic banking transactions across seven transaction types, six channels, and four statuses, with configurable injection of five anomaly patterns.</a:t>
            </a:r>
          </a:p>
          <a:p>
            <a:pPr marL="285750" indent="-285750">
              <a:buFont typeface="Arial" panose="020B0604020202020204" pitchFamily="34" charset="0"/>
              <a:buChar char="•"/>
            </a:pPr>
            <a:r>
              <a:rPr lang="en-IN" b="1" dirty="0">
                <a:latin typeface="Montserrat" pitchFamily="2" charset="0"/>
              </a:rPr>
              <a:t>Data Ingestion</a:t>
            </a:r>
            <a:r>
              <a:rPr lang="en-IN" dirty="0">
                <a:latin typeface="Montserrat" pitchFamily="2" charset="0"/>
              </a:rPr>
              <a:t> — Transactions are published to Apache Kafka topics using a producer with retries and acknowledgement guarantees, running on a broker deployed in </a:t>
            </a:r>
            <a:r>
              <a:rPr lang="en-IN" dirty="0" err="1">
                <a:latin typeface="Montserrat" pitchFamily="2" charset="0"/>
              </a:rPr>
              <a:t>KRaft</a:t>
            </a:r>
            <a:r>
              <a:rPr lang="en-IN" dirty="0">
                <a:latin typeface="Montserrat" pitchFamily="2" charset="0"/>
              </a:rPr>
              <a:t> mode via Docker.</a:t>
            </a:r>
          </a:p>
          <a:p>
            <a:pPr marL="285750" indent="-285750">
              <a:buFont typeface="Arial" panose="020B0604020202020204" pitchFamily="34" charset="0"/>
              <a:buChar char="•"/>
            </a:pPr>
            <a:r>
              <a:rPr lang="en-IN" b="1" dirty="0">
                <a:latin typeface="Montserrat" pitchFamily="2" charset="0"/>
              </a:rPr>
              <a:t>Stream Processing</a:t>
            </a:r>
            <a:r>
              <a:rPr lang="en-IN" dirty="0">
                <a:latin typeface="Montserrat" pitchFamily="2" charset="0"/>
              </a:rPr>
              <a:t> — </a:t>
            </a:r>
            <a:r>
              <a:rPr lang="en-IN" dirty="0" err="1">
                <a:latin typeface="Montserrat" pitchFamily="2" charset="0"/>
              </a:rPr>
              <a:t>PySpark</a:t>
            </a:r>
            <a:r>
              <a:rPr lang="en-IN" dirty="0">
                <a:latin typeface="Montserrat" pitchFamily="2" charset="0"/>
              </a:rPr>
              <a:t> Structured Streaming reads continuously from Kafka, applies a watermark, deduplicates records, and validates each transaction against a canonical schema.</a:t>
            </a:r>
          </a:p>
          <a:p>
            <a:pPr marL="285750" indent="-285750">
              <a:buFont typeface="Arial" panose="020B0604020202020204" pitchFamily="34" charset="0"/>
              <a:buChar char="•"/>
            </a:pPr>
            <a:r>
              <a:rPr lang="en-IN" b="1" dirty="0">
                <a:latin typeface="Montserrat" pitchFamily="2" charset="0"/>
              </a:rPr>
              <a:t>Validation &amp; Quarantine</a:t>
            </a:r>
            <a:r>
              <a:rPr lang="en-IN" dirty="0">
                <a:latin typeface="Montserrat" pitchFamily="2" charset="0"/>
              </a:rPr>
              <a:t> — Records failing required-field, amount, timestamp, type, or status checks are enriched with a failure reason and routed to a Quarantine Delta table; valid records proceed to Bronze/Silver.</a:t>
            </a:r>
          </a:p>
          <a:p>
            <a:pPr marL="285750" indent="-285750">
              <a:buFont typeface="Arial" panose="020B0604020202020204" pitchFamily="34" charset="0"/>
              <a:buChar char="•"/>
            </a:pPr>
            <a:r>
              <a:rPr lang="en-IN" b="1" dirty="0">
                <a:latin typeface="Montserrat" pitchFamily="2" charset="0"/>
              </a:rPr>
              <a:t>Anomaly Scoring </a:t>
            </a:r>
            <a:r>
              <a:rPr lang="en-IN" dirty="0">
                <a:latin typeface="Montserrat" pitchFamily="2" charset="0"/>
              </a:rPr>
              <a:t>— Silver-layer records are enriched with rolling-window features and scored using a deterministic, weighted rule engine, producing an explainable score, band, and reason string.</a:t>
            </a:r>
          </a:p>
          <a:p>
            <a:pPr marL="285750" indent="-285750">
              <a:buFont typeface="Arial" panose="020B0604020202020204" pitchFamily="34" charset="0"/>
              <a:buChar char="•"/>
            </a:pPr>
            <a:r>
              <a:rPr lang="en-IN" b="1" dirty="0">
                <a:latin typeface="Montserrat" pitchFamily="2" charset="0"/>
              </a:rPr>
              <a:t>Gold Layer &amp; Querying</a:t>
            </a:r>
            <a:r>
              <a:rPr lang="en-IN" dirty="0">
                <a:latin typeface="Montserrat" pitchFamily="2" charset="0"/>
              </a:rPr>
              <a:t> — Silver data is loaded into a SQLite star schema (dimensions, fact table, KPI tables), which is queried directly with SQL to validate quality and extract insights.</a:t>
            </a:r>
          </a:p>
        </p:txBody>
      </p:sp>
    </p:spTree>
    <p:extLst>
      <p:ext uri="{BB962C8B-B14F-4D97-AF65-F5344CB8AC3E}">
        <p14:creationId xmlns:p14="http://schemas.microsoft.com/office/powerpoint/2010/main" val="1488481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bg>
      <p:bgPr>
        <a:solidFill>
          <a:srgbClr val="FFFFFF"/>
        </a:solidFill>
        <a:effectLst/>
      </p:bgPr>
    </p:bg>
    <p:spTree>
      <p:nvGrpSpPr>
        <p:cNvPr id="1" name="">
          <a:extLst>
            <a:ext uri="{FF2B5EF4-FFF2-40B4-BE49-F238E27FC236}">
              <a16:creationId xmlns:a16="http://schemas.microsoft.com/office/drawing/2014/main" id="{9EAC7F5E-7974-D351-8695-F0711BD36228}"/>
            </a:ext>
          </a:extLst>
        </p:cNvPr>
        <p:cNvGrpSpPr/>
        <p:nvPr/>
      </p:nvGrpSpPr>
      <p:grpSpPr bwMode="auto">
        <a:xfrm>
          <a:off x="0" y="0"/>
          <a:ext cx="0" cy="0"/>
          <a:chOff x="0" y="0"/>
          <a:chExt cx="0" cy="0"/>
        </a:xfrm>
      </p:grpSpPr>
      <p:sp>
        <p:nvSpPr>
          <p:cNvPr id="878604334" name="TextBox 739767261">
            <a:extLst>
              <a:ext uri="{FF2B5EF4-FFF2-40B4-BE49-F238E27FC236}">
                <a16:creationId xmlns:a16="http://schemas.microsoft.com/office/drawing/2014/main" id="{26F61762-4A72-421E-4471-6A27858A4B26}"/>
              </a:ext>
            </a:extLst>
          </p:cNvPr>
          <p:cNvSpPr txBox="1"/>
          <p:nvPr/>
        </p:nvSpPr>
        <p:spPr bwMode="auto">
          <a:xfrm>
            <a:off x="523609" y="299701"/>
            <a:ext cx="12370354" cy="717632"/>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4000" b="1" dirty="0">
                <a:solidFill>
                  <a:srgbClr val="000000"/>
                </a:solidFill>
                <a:latin typeface="Montserrat" pitchFamily="2" charset="0"/>
              </a:rPr>
              <a:t>IMPLEMENTATION</a:t>
            </a:r>
          </a:p>
        </p:txBody>
      </p:sp>
      <p:sp>
        <p:nvSpPr>
          <p:cNvPr id="438249054" name="Rectangle 3">
            <a:extLst>
              <a:ext uri="{FF2B5EF4-FFF2-40B4-BE49-F238E27FC236}">
                <a16:creationId xmlns:a16="http://schemas.microsoft.com/office/drawing/2014/main" id="{3D34DB80-59FB-3ED3-561E-A6887FE3A156}"/>
              </a:ext>
            </a:extLst>
          </p:cNvPr>
          <p:cNvSpPr/>
          <p:nvPr/>
        </p:nvSpPr>
        <p:spPr bwMode="auto">
          <a:xfrm>
            <a:off x="670560" y="1084042"/>
            <a:ext cx="10668000" cy="28575"/>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latin typeface="Montserrat" pitchFamily="2" charset="0"/>
            </a:endParaRPr>
          </a:p>
        </p:txBody>
      </p:sp>
      <p:sp>
        <p:nvSpPr>
          <p:cNvPr id="8" name="TextBox 7">
            <a:extLst>
              <a:ext uri="{FF2B5EF4-FFF2-40B4-BE49-F238E27FC236}">
                <a16:creationId xmlns:a16="http://schemas.microsoft.com/office/drawing/2014/main" id="{D1A95CEE-E6C6-3EE8-7B6E-EED2762F08FC}"/>
              </a:ext>
            </a:extLst>
          </p:cNvPr>
          <p:cNvSpPr txBox="1"/>
          <p:nvPr/>
        </p:nvSpPr>
        <p:spPr>
          <a:xfrm>
            <a:off x="761076" y="1246036"/>
            <a:ext cx="10119359" cy="5078313"/>
          </a:xfrm>
          <a:prstGeom prst="rect">
            <a:avLst/>
          </a:prstGeom>
          <a:noFill/>
        </p:spPr>
        <p:txBody>
          <a:bodyPr wrap="square" anchor="ctr">
            <a:spAutoFit/>
          </a:bodyPr>
          <a:lstStyle/>
          <a:p>
            <a:pPr marL="285750" indent="-285750">
              <a:buFont typeface="Arial" panose="020B0604020202020204" pitchFamily="34" charset="0"/>
              <a:buChar char="•"/>
            </a:pPr>
            <a:r>
              <a:rPr lang="en-IN" b="1" dirty="0">
                <a:latin typeface="Montserrat" pitchFamily="2" charset="0"/>
              </a:rPr>
              <a:t>Data Generation Module</a:t>
            </a:r>
            <a:r>
              <a:rPr lang="en-IN" dirty="0">
                <a:latin typeface="Montserrat" pitchFamily="2" charset="0"/>
              </a:rPr>
              <a:t> — Python + Faker-based generator producing schema-compliant and deliberately malformed records; validated with 11 unit tests covering account generation, schema conformance, and all five anomaly patterns.</a:t>
            </a:r>
          </a:p>
          <a:p>
            <a:pPr marL="285750" indent="-285750">
              <a:buFont typeface="Arial" panose="020B0604020202020204" pitchFamily="34" charset="0"/>
              <a:buChar char="•"/>
            </a:pPr>
            <a:r>
              <a:rPr lang="en-IN" b="1" dirty="0">
                <a:latin typeface="Montserrat" pitchFamily="2" charset="0"/>
              </a:rPr>
              <a:t>Streaming &amp; Ingestion Module</a:t>
            </a:r>
            <a:r>
              <a:rPr lang="en-IN" dirty="0">
                <a:latin typeface="Montserrat" pitchFamily="2" charset="0"/>
              </a:rPr>
              <a:t> — Kafka topic management and producer implemented with </a:t>
            </a:r>
            <a:r>
              <a:rPr lang="en-IN" dirty="0" err="1">
                <a:latin typeface="Montserrat" pitchFamily="2" charset="0"/>
              </a:rPr>
              <a:t>kafka</a:t>
            </a:r>
            <a:r>
              <a:rPr lang="en-IN" dirty="0">
                <a:latin typeface="Montserrat" pitchFamily="2" charset="0"/>
              </a:rPr>
              <a:t>-python-ng; topics created idempotently; broker run in Docker (</a:t>
            </a:r>
            <a:r>
              <a:rPr lang="en-IN" dirty="0" err="1">
                <a:latin typeface="Montserrat" pitchFamily="2" charset="0"/>
              </a:rPr>
              <a:t>KRaft</a:t>
            </a:r>
            <a:r>
              <a:rPr lang="en-IN" dirty="0">
                <a:latin typeface="Montserrat" pitchFamily="2" charset="0"/>
              </a:rPr>
              <a:t> mode, single broker).</a:t>
            </a:r>
          </a:p>
          <a:p>
            <a:pPr marL="285750" indent="-285750">
              <a:buFont typeface="Arial" panose="020B0604020202020204" pitchFamily="34" charset="0"/>
              <a:buChar char="•"/>
            </a:pPr>
            <a:r>
              <a:rPr lang="en-IN" b="1" dirty="0">
                <a:latin typeface="Montserrat" pitchFamily="2" charset="0"/>
              </a:rPr>
              <a:t>Processing Module</a:t>
            </a:r>
            <a:r>
              <a:rPr lang="en-IN" dirty="0">
                <a:latin typeface="Montserrat" pitchFamily="2" charset="0"/>
              </a:rPr>
              <a:t> — </a:t>
            </a:r>
            <a:r>
              <a:rPr lang="en-IN" dirty="0" err="1">
                <a:latin typeface="Montserrat" pitchFamily="2" charset="0"/>
              </a:rPr>
              <a:t>PySpark</a:t>
            </a:r>
            <a:r>
              <a:rPr lang="en-IN" dirty="0">
                <a:latin typeface="Montserrat" pitchFamily="2" charset="0"/>
              </a:rPr>
              <a:t> Structured Streaming job performing schema validation, watermark-based deduplication, rolling-window aggregation, and anomaly scoring.</a:t>
            </a:r>
          </a:p>
          <a:p>
            <a:pPr marL="285750" indent="-285750">
              <a:buFont typeface="Arial" panose="020B0604020202020204" pitchFamily="34" charset="0"/>
              <a:buChar char="•"/>
            </a:pPr>
            <a:r>
              <a:rPr lang="en-IN" b="1" dirty="0">
                <a:latin typeface="Montserrat" pitchFamily="2" charset="0"/>
              </a:rPr>
              <a:t>Storage Module</a:t>
            </a:r>
            <a:r>
              <a:rPr lang="en-IN" dirty="0">
                <a:latin typeface="Montserrat" pitchFamily="2" charset="0"/>
              </a:rPr>
              <a:t> — Delta Lake tables for Bronze (raw valid transactions), Silver (cleaned, scored transactions), and Quarantine (invalid records with failure reasons), backed by checkpointed streaming writes.</a:t>
            </a:r>
          </a:p>
          <a:p>
            <a:pPr marL="285750" indent="-285750">
              <a:buFont typeface="Arial" panose="020B0604020202020204" pitchFamily="34" charset="0"/>
              <a:buChar char="•"/>
            </a:pPr>
            <a:r>
              <a:rPr lang="en-IN" b="1" dirty="0">
                <a:latin typeface="Montserrat" pitchFamily="2" charset="0"/>
              </a:rPr>
              <a:t>Gold Layer Module</a:t>
            </a:r>
            <a:r>
              <a:rPr lang="en-IN" dirty="0">
                <a:latin typeface="Montserrat" pitchFamily="2" charset="0"/>
              </a:rPr>
              <a:t> — </a:t>
            </a:r>
            <a:r>
              <a:rPr lang="en-IN" dirty="0" err="1">
                <a:latin typeface="Montserrat" pitchFamily="2" charset="0"/>
              </a:rPr>
              <a:t>SQLAlchemy</a:t>
            </a:r>
            <a:r>
              <a:rPr lang="en-IN" dirty="0">
                <a:latin typeface="Montserrat" pitchFamily="2" charset="0"/>
              </a:rPr>
              <a:t>-based loaders populate a SQLite star schema (dimensions, </a:t>
            </a:r>
            <a:r>
              <a:rPr lang="en-IN" dirty="0" err="1">
                <a:latin typeface="Montserrat" pitchFamily="2" charset="0"/>
              </a:rPr>
              <a:t>fact_transactions</a:t>
            </a:r>
            <a:r>
              <a:rPr lang="en-IN" dirty="0">
                <a:latin typeface="Montserrat" pitchFamily="2" charset="0"/>
              </a:rPr>
              <a:t>, KPI tables), with dedicated data-quality validation queries.</a:t>
            </a:r>
          </a:p>
          <a:p>
            <a:pPr marL="285750" indent="-285750">
              <a:buFont typeface="Arial" panose="020B0604020202020204" pitchFamily="34" charset="0"/>
              <a:buChar char="•"/>
            </a:pPr>
            <a:r>
              <a:rPr lang="en-IN" b="1" dirty="0">
                <a:latin typeface="Montserrat" pitchFamily="2" charset="0"/>
              </a:rPr>
              <a:t>Containerisation &amp; Testing</a:t>
            </a:r>
            <a:r>
              <a:rPr lang="en-IN" dirty="0">
                <a:latin typeface="Montserrat" pitchFamily="2" charset="0"/>
              </a:rPr>
              <a:t> — A custom Docker runtime image bundles </a:t>
            </a:r>
            <a:r>
              <a:rPr lang="en-IN" dirty="0" err="1">
                <a:latin typeface="Montserrat" pitchFamily="2" charset="0"/>
              </a:rPr>
              <a:t>PySpark</a:t>
            </a:r>
            <a:r>
              <a:rPr lang="en-IN" dirty="0">
                <a:latin typeface="Montserrat" pitchFamily="2" charset="0"/>
              </a:rPr>
              <a:t>, Delta Lake, and Kafka client libraries; 17 automated unit and integration tests were written and executed against the pipeline.</a:t>
            </a:r>
          </a:p>
        </p:txBody>
      </p:sp>
    </p:spTree>
    <p:extLst>
      <p:ext uri="{BB962C8B-B14F-4D97-AF65-F5344CB8AC3E}">
        <p14:creationId xmlns:p14="http://schemas.microsoft.com/office/powerpoint/2010/main" val="8182214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bg>
      <p:bgPr>
        <a:solidFill>
          <a:srgbClr val="FFFFFF"/>
        </a:solidFill>
        <a:effectLst/>
      </p:bgPr>
    </p:bg>
    <p:spTree>
      <p:nvGrpSpPr>
        <p:cNvPr id="1" name="">
          <a:extLst>
            <a:ext uri="{FF2B5EF4-FFF2-40B4-BE49-F238E27FC236}">
              <a16:creationId xmlns:a16="http://schemas.microsoft.com/office/drawing/2014/main" id="{C93ABAF5-5F03-994B-45B9-A33DC192DC60}"/>
            </a:ext>
          </a:extLst>
        </p:cNvPr>
        <p:cNvGrpSpPr/>
        <p:nvPr/>
      </p:nvGrpSpPr>
      <p:grpSpPr bwMode="auto">
        <a:xfrm>
          <a:off x="0" y="0"/>
          <a:ext cx="0" cy="0"/>
          <a:chOff x="0" y="0"/>
          <a:chExt cx="0" cy="0"/>
        </a:xfrm>
      </p:grpSpPr>
      <p:sp>
        <p:nvSpPr>
          <p:cNvPr id="878604334" name="TextBox 739767261">
            <a:extLst>
              <a:ext uri="{FF2B5EF4-FFF2-40B4-BE49-F238E27FC236}">
                <a16:creationId xmlns:a16="http://schemas.microsoft.com/office/drawing/2014/main" id="{D46B2E73-560C-4DAE-2232-28662279AC04}"/>
              </a:ext>
            </a:extLst>
          </p:cNvPr>
          <p:cNvSpPr txBox="1"/>
          <p:nvPr/>
        </p:nvSpPr>
        <p:spPr bwMode="auto">
          <a:xfrm>
            <a:off x="523609" y="266849"/>
            <a:ext cx="12370354" cy="717632"/>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4000" b="1" dirty="0">
                <a:solidFill>
                  <a:srgbClr val="000000"/>
                </a:solidFill>
                <a:latin typeface="Montserrat" pitchFamily="2" charset="0"/>
              </a:rPr>
              <a:t>COMPARISON AND DISCUSSION</a:t>
            </a:r>
          </a:p>
        </p:txBody>
      </p:sp>
      <p:sp>
        <p:nvSpPr>
          <p:cNvPr id="438249054" name="Rectangle 3">
            <a:extLst>
              <a:ext uri="{FF2B5EF4-FFF2-40B4-BE49-F238E27FC236}">
                <a16:creationId xmlns:a16="http://schemas.microsoft.com/office/drawing/2014/main" id="{025F55FA-3715-6EE0-15C2-2B503A5D53E4}"/>
              </a:ext>
            </a:extLst>
          </p:cNvPr>
          <p:cNvSpPr/>
          <p:nvPr/>
        </p:nvSpPr>
        <p:spPr bwMode="auto">
          <a:xfrm>
            <a:off x="670560" y="1084042"/>
            <a:ext cx="10668000" cy="28575"/>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latin typeface="Montserrat" pitchFamily="2" charset="0"/>
            </a:endParaRPr>
          </a:p>
        </p:txBody>
      </p:sp>
      <p:graphicFrame>
        <p:nvGraphicFramePr>
          <p:cNvPr id="2" name="Table 1">
            <a:extLst>
              <a:ext uri="{FF2B5EF4-FFF2-40B4-BE49-F238E27FC236}">
                <a16:creationId xmlns:a16="http://schemas.microsoft.com/office/drawing/2014/main" id="{5B1871C0-6142-5D99-659D-9EBAFD43D0B7}"/>
              </a:ext>
            </a:extLst>
          </p:cNvPr>
          <p:cNvGraphicFramePr>
            <a:graphicFrameLocks noGrp="1"/>
          </p:cNvGraphicFramePr>
          <p:nvPr>
            <p:extLst>
              <p:ext uri="{D42A27DB-BD31-4B8C-83A1-F6EECF244321}">
                <p14:modId xmlns:p14="http://schemas.microsoft.com/office/powerpoint/2010/main" val="316639606"/>
              </p:ext>
            </p:extLst>
          </p:nvPr>
        </p:nvGraphicFramePr>
        <p:xfrm>
          <a:off x="804672" y="1311739"/>
          <a:ext cx="10030968" cy="5125720"/>
        </p:xfrm>
        <a:graphic>
          <a:graphicData uri="http://schemas.openxmlformats.org/drawingml/2006/table">
            <a:tbl>
              <a:tblPr firstRow="1" bandRow="1">
                <a:tableStyleId>{5C22544A-7EE6-4342-B048-85BDC9FD1C3A}</a:tableStyleId>
              </a:tblPr>
              <a:tblGrid>
                <a:gridCol w="5015484">
                  <a:extLst>
                    <a:ext uri="{9D8B030D-6E8A-4147-A177-3AD203B41FA5}">
                      <a16:colId xmlns:a16="http://schemas.microsoft.com/office/drawing/2014/main" val="4019300898"/>
                    </a:ext>
                  </a:extLst>
                </a:gridCol>
                <a:gridCol w="5015484">
                  <a:extLst>
                    <a:ext uri="{9D8B030D-6E8A-4147-A177-3AD203B41FA5}">
                      <a16:colId xmlns:a16="http://schemas.microsoft.com/office/drawing/2014/main" val="2201699297"/>
                    </a:ext>
                  </a:extLst>
                </a:gridCol>
              </a:tblGrid>
              <a:tr h="370840">
                <a:tc>
                  <a:txBody>
                    <a:bodyPr/>
                    <a:lstStyle/>
                    <a:p>
                      <a:pPr algn="ctr">
                        <a:buNone/>
                      </a:pPr>
                      <a:r>
                        <a:rPr lang="en-IN" dirty="0">
                          <a:latin typeface="Montserrat" pitchFamily="2" charset="0"/>
                        </a:rPr>
                        <a:t>Aspect</a:t>
                      </a:r>
                    </a:p>
                  </a:txBody>
                  <a:tcPr anchor="ctr"/>
                </a:tc>
                <a:tc>
                  <a:txBody>
                    <a:bodyPr/>
                    <a:lstStyle/>
                    <a:p>
                      <a:pPr algn="ctr">
                        <a:buNone/>
                      </a:pPr>
                      <a:r>
                        <a:rPr lang="en-IN">
                          <a:latin typeface="Montserrat" pitchFamily="2" charset="0"/>
                        </a:rPr>
                        <a:t>Base Paper</a:t>
                      </a:r>
                    </a:p>
                  </a:txBody>
                  <a:tcPr anchor="ctr"/>
                </a:tc>
                <a:extLst>
                  <a:ext uri="{0D108BD9-81ED-4DB2-BD59-A6C34878D82A}">
                    <a16:rowId xmlns:a16="http://schemas.microsoft.com/office/drawing/2014/main" val="3719741329"/>
                  </a:ext>
                </a:extLst>
              </a:tr>
              <a:tr h="370840">
                <a:tc>
                  <a:txBody>
                    <a:bodyPr/>
                    <a:lstStyle/>
                    <a:p>
                      <a:pPr algn="ctr">
                        <a:buNone/>
                      </a:pPr>
                      <a:r>
                        <a:rPr lang="en-IN" dirty="0">
                          <a:latin typeface="Montserrat" pitchFamily="2" charset="0"/>
                        </a:rPr>
                        <a:t>Architecture</a:t>
                      </a:r>
                    </a:p>
                  </a:txBody>
                  <a:tcPr anchor="ctr"/>
                </a:tc>
                <a:tc>
                  <a:txBody>
                    <a:bodyPr/>
                    <a:lstStyle/>
                    <a:p>
                      <a:pPr algn="ctr">
                        <a:buNone/>
                      </a:pPr>
                      <a:r>
                        <a:rPr lang="en-IN">
                          <a:latin typeface="Montserrat" pitchFamily="2" charset="0"/>
                        </a:rPr>
                        <a:t>Lambda Architecture with separate batch, speed, and serving layers</a:t>
                      </a:r>
                    </a:p>
                  </a:txBody>
                  <a:tcPr anchor="ctr"/>
                </a:tc>
                <a:extLst>
                  <a:ext uri="{0D108BD9-81ED-4DB2-BD59-A6C34878D82A}">
                    <a16:rowId xmlns:a16="http://schemas.microsoft.com/office/drawing/2014/main" val="323305684"/>
                  </a:ext>
                </a:extLst>
              </a:tr>
              <a:tr h="370840">
                <a:tc>
                  <a:txBody>
                    <a:bodyPr/>
                    <a:lstStyle/>
                    <a:p>
                      <a:pPr algn="ctr">
                        <a:buNone/>
                      </a:pPr>
                      <a:r>
                        <a:rPr lang="en-IN" dirty="0">
                          <a:latin typeface="Montserrat" pitchFamily="2" charset="0"/>
                        </a:rPr>
                        <a:t>Ingestion</a:t>
                      </a:r>
                    </a:p>
                  </a:txBody>
                  <a:tcPr anchor="ctr"/>
                </a:tc>
                <a:tc>
                  <a:txBody>
                    <a:bodyPr/>
                    <a:lstStyle/>
                    <a:p>
                      <a:pPr algn="ctr">
                        <a:buNone/>
                      </a:pPr>
                      <a:r>
                        <a:rPr lang="en-IN">
                          <a:latin typeface="Montserrat" pitchFamily="2" charset="0"/>
                        </a:rPr>
                        <a:t>General streaming ingestion layer; implementation details not specified</a:t>
                      </a:r>
                    </a:p>
                  </a:txBody>
                  <a:tcPr anchor="ctr"/>
                </a:tc>
                <a:extLst>
                  <a:ext uri="{0D108BD9-81ED-4DB2-BD59-A6C34878D82A}">
                    <a16:rowId xmlns:a16="http://schemas.microsoft.com/office/drawing/2014/main" val="148537722"/>
                  </a:ext>
                </a:extLst>
              </a:tr>
              <a:tr h="370840">
                <a:tc>
                  <a:txBody>
                    <a:bodyPr/>
                    <a:lstStyle/>
                    <a:p>
                      <a:pPr algn="ctr">
                        <a:buNone/>
                      </a:pPr>
                      <a:r>
                        <a:rPr lang="en-IN">
                          <a:latin typeface="Montserrat" pitchFamily="2" charset="0"/>
                        </a:rPr>
                        <a:t>Processing</a:t>
                      </a:r>
                    </a:p>
                  </a:txBody>
                  <a:tcPr anchor="ctr"/>
                </a:tc>
                <a:tc>
                  <a:txBody>
                    <a:bodyPr/>
                    <a:lstStyle/>
                    <a:p>
                      <a:pPr algn="ctr">
                        <a:buNone/>
                      </a:pPr>
                      <a:r>
                        <a:rPr lang="en-IN" dirty="0">
                          <a:latin typeface="Montserrat" pitchFamily="2" charset="0"/>
                        </a:rPr>
                        <a:t>Batch and speed layers processed independently, then merged in a serving layer</a:t>
                      </a:r>
                    </a:p>
                  </a:txBody>
                  <a:tcPr anchor="ctr"/>
                </a:tc>
                <a:extLst>
                  <a:ext uri="{0D108BD9-81ED-4DB2-BD59-A6C34878D82A}">
                    <a16:rowId xmlns:a16="http://schemas.microsoft.com/office/drawing/2014/main" val="1544590778"/>
                  </a:ext>
                </a:extLst>
              </a:tr>
              <a:tr h="370840">
                <a:tc>
                  <a:txBody>
                    <a:bodyPr/>
                    <a:lstStyle/>
                    <a:p>
                      <a:pPr algn="ctr">
                        <a:buNone/>
                      </a:pPr>
                      <a:r>
                        <a:rPr lang="en-IN">
                          <a:latin typeface="Montserrat" pitchFamily="2" charset="0"/>
                        </a:rPr>
                        <a:t>Anomaly Detection</a:t>
                      </a:r>
                    </a:p>
                  </a:txBody>
                  <a:tcPr anchor="ctr"/>
                </a:tc>
                <a:tc>
                  <a:txBody>
                    <a:bodyPr/>
                    <a:lstStyle/>
                    <a:p>
                      <a:pPr algn="ctr">
                        <a:buNone/>
                      </a:pPr>
                      <a:r>
                        <a:rPr lang="en-IN" dirty="0">
                          <a:latin typeface="Montserrat" pitchFamily="2" charset="0"/>
                        </a:rPr>
                        <a:t>Near real-time detection performed at the speed layer</a:t>
                      </a:r>
                    </a:p>
                  </a:txBody>
                  <a:tcPr anchor="ctr"/>
                </a:tc>
                <a:extLst>
                  <a:ext uri="{0D108BD9-81ED-4DB2-BD59-A6C34878D82A}">
                    <a16:rowId xmlns:a16="http://schemas.microsoft.com/office/drawing/2014/main" val="4027257057"/>
                  </a:ext>
                </a:extLst>
              </a:tr>
              <a:tr h="370840">
                <a:tc>
                  <a:txBody>
                    <a:bodyPr/>
                    <a:lstStyle/>
                    <a:p>
                      <a:pPr algn="ctr">
                        <a:buNone/>
                      </a:pPr>
                      <a:r>
                        <a:rPr lang="en-IN">
                          <a:latin typeface="Montserrat" pitchFamily="2" charset="0"/>
                        </a:rPr>
                        <a:t>Storage</a:t>
                      </a:r>
                    </a:p>
                  </a:txBody>
                  <a:tcPr anchor="ctr"/>
                </a:tc>
                <a:tc>
                  <a:txBody>
                    <a:bodyPr/>
                    <a:lstStyle/>
                    <a:p>
                      <a:pPr algn="ctr">
                        <a:buNone/>
                      </a:pPr>
                      <a:r>
                        <a:rPr lang="en-IN" dirty="0">
                          <a:latin typeface="Montserrat" pitchFamily="2" charset="0"/>
                        </a:rPr>
                        <a:t>Separate batch-layer and serving-layer stores, adding operational complexity</a:t>
                      </a:r>
                    </a:p>
                  </a:txBody>
                  <a:tcPr anchor="ctr"/>
                </a:tc>
                <a:extLst>
                  <a:ext uri="{0D108BD9-81ED-4DB2-BD59-A6C34878D82A}">
                    <a16:rowId xmlns:a16="http://schemas.microsoft.com/office/drawing/2014/main" val="234529409"/>
                  </a:ext>
                </a:extLst>
              </a:tr>
              <a:tr h="370840">
                <a:tc>
                  <a:txBody>
                    <a:bodyPr/>
                    <a:lstStyle/>
                    <a:p>
                      <a:pPr algn="ctr">
                        <a:buNone/>
                      </a:pPr>
                      <a:r>
                        <a:rPr lang="en-IN">
                          <a:latin typeface="Montserrat" pitchFamily="2" charset="0"/>
                        </a:rPr>
                        <a:t>Invalid Data Handling</a:t>
                      </a:r>
                    </a:p>
                  </a:txBody>
                  <a:tcPr anchor="ctr"/>
                </a:tc>
                <a:tc>
                  <a:txBody>
                    <a:bodyPr/>
                    <a:lstStyle/>
                    <a:p>
                      <a:pPr algn="ctr">
                        <a:buNone/>
                      </a:pPr>
                      <a:r>
                        <a:rPr lang="en-IN" dirty="0">
                          <a:latin typeface="Montserrat" pitchFamily="2" charset="0"/>
                        </a:rPr>
                        <a:t>Not explicitly addressed in the architecture</a:t>
                      </a:r>
                    </a:p>
                  </a:txBody>
                  <a:tcPr anchor="ctr"/>
                </a:tc>
                <a:extLst>
                  <a:ext uri="{0D108BD9-81ED-4DB2-BD59-A6C34878D82A}">
                    <a16:rowId xmlns:a16="http://schemas.microsoft.com/office/drawing/2014/main" val="2419189528"/>
                  </a:ext>
                </a:extLst>
              </a:tr>
              <a:tr h="370840">
                <a:tc>
                  <a:txBody>
                    <a:bodyPr/>
                    <a:lstStyle/>
                    <a:p>
                      <a:pPr algn="ctr">
                        <a:buNone/>
                      </a:pPr>
                      <a:r>
                        <a:rPr lang="en-IN">
                          <a:latin typeface="Montserrat" pitchFamily="2" charset="0"/>
                        </a:rPr>
                        <a:t>Reproducibility</a:t>
                      </a:r>
                    </a:p>
                  </a:txBody>
                  <a:tcPr anchor="ctr"/>
                </a:tc>
                <a:tc>
                  <a:txBody>
                    <a:bodyPr/>
                    <a:lstStyle/>
                    <a:p>
                      <a:pPr algn="ctr">
                        <a:buNone/>
                      </a:pPr>
                      <a:r>
                        <a:rPr lang="en-IN" dirty="0">
                          <a:latin typeface="Montserrat" pitchFamily="2" charset="0"/>
                        </a:rPr>
                        <a:t>Requires maintaining three distinct layers / pipelines</a:t>
                      </a:r>
                    </a:p>
                  </a:txBody>
                  <a:tcPr anchor="ctr"/>
                </a:tc>
                <a:extLst>
                  <a:ext uri="{0D108BD9-81ED-4DB2-BD59-A6C34878D82A}">
                    <a16:rowId xmlns:a16="http://schemas.microsoft.com/office/drawing/2014/main" val="3318879330"/>
                  </a:ext>
                </a:extLst>
              </a:tr>
            </a:tbl>
          </a:graphicData>
        </a:graphic>
      </p:graphicFrame>
    </p:spTree>
    <p:extLst>
      <p:ext uri="{BB962C8B-B14F-4D97-AF65-F5344CB8AC3E}">
        <p14:creationId xmlns:p14="http://schemas.microsoft.com/office/powerpoint/2010/main" val="16164417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bg>
      <p:bgPr>
        <a:solidFill>
          <a:srgbClr val="FFFFFF"/>
        </a:solidFill>
        <a:effectLst/>
      </p:bgPr>
    </p:bg>
    <p:spTree>
      <p:nvGrpSpPr>
        <p:cNvPr id="1" name="">
          <a:extLst>
            <a:ext uri="{FF2B5EF4-FFF2-40B4-BE49-F238E27FC236}">
              <a16:creationId xmlns:a16="http://schemas.microsoft.com/office/drawing/2014/main" id="{70BECF14-7010-99CD-6CD8-93301BC3BB6E}"/>
            </a:ext>
          </a:extLst>
        </p:cNvPr>
        <p:cNvGrpSpPr/>
        <p:nvPr/>
      </p:nvGrpSpPr>
      <p:grpSpPr bwMode="auto">
        <a:xfrm>
          <a:off x="0" y="0"/>
          <a:ext cx="0" cy="0"/>
          <a:chOff x="0" y="0"/>
          <a:chExt cx="0" cy="0"/>
        </a:xfrm>
      </p:grpSpPr>
      <p:sp>
        <p:nvSpPr>
          <p:cNvPr id="878604334" name="TextBox 739767261">
            <a:extLst>
              <a:ext uri="{FF2B5EF4-FFF2-40B4-BE49-F238E27FC236}">
                <a16:creationId xmlns:a16="http://schemas.microsoft.com/office/drawing/2014/main" id="{23D44806-EC92-41DA-3D5F-0C303EFF57C5}"/>
              </a:ext>
            </a:extLst>
          </p:cNvPr>
          <p:cNvSpPr txBox="1"/>
          <p:nvPr/>
        </p:nvSpPr>
        <p:spPr bwMode="auto">
          <a:xfrm>
            <a:off x="523609" y="266849"/>
            <a:ext cx="12370354" cy="717632"/>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4000" b="1" dirty="0">
                <a:solidFill>
                  <a:srgbClr val="000000"/>
                </a:solidFill>
                <a:latin typeface="Montserrat" pitchFamily="2" charset="0"/>
              </a:rPr>
              <a:t>COMPARISON AND DISCUSSION</a:t>
            </a:r>
          </a:p>
        </p:txBody>
      </p:sp>
      <p:sp>
        <p:nvSpPr>
          <p:cNvPr id="438249054" name="Rectangle 3">
            <a:extLst>
              <a:ext uri="{FF2B5EF4-FFF2-40B4-BE49-F238E27FC236}">
                <a16:creationId xmlns:a16="http://schemas.microsoft.com/office/drawing/2014/main" id="{9F493C6A-C286-B204-FE39-7830858F4952}"/>
              </a:ext>
            </a:extLst>
          </p:cNvPr>
          <p:cNvSpPr/>
          <p:nvPr/>
        </p:nvSpPr>
        <p:spPr bwMode="auto">
          <a:xfrm>
            <a:off x="670560" y="1084042"/>
            <a:ext cx="10668000" cy="28575"/>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endParaRPr>
              <a:latin typeface="Montserrat" pitchFamily="2" charset="0"/>
            </a:endParaRPr>
          </a:p>
        </p:txBody>
      </p:sp>
      <p:pic>
        <p:nvPicPr>
          <p:cNvPr id="4" name="Picture 3">
            <a:extLst>
              <a:ext uri="{FF2B5EF4-FFF2-40B4-BE49-F238E27FC236}">
                <a16:creationId xmlns:a16="http://schemas.microsoft.com/office/drawing/2014/main" id="{1E1418B3-425B-2BA8-F4DC-40A757B1EE04}"/>
              </a:ext>
            </a:extLst>
          </p:cNvPr>
          <p:cNvPicPr>
            <a:picLocks noChangeAspect="1"/>
          </p:cNvPicPr>
          <p:nvPr/>
        </p:nvPicPr>
        <p:blipFill>
          <a:blip r:embed="rId3"/>
          <a:stretch>
            <a:fillRect/>
          </a:stretch>
        </p:blipFill>
        <p:spPr>
          <a:xfrm>
            <a:off x="1117716" y="1260139"/>
            <a:ext cx="9956567" cy="5597861"/>
          </a:xfrm>
          <a:prstGeom prst="rect">
            <a:avLst/>
          </a:prstGeom>
        </p:spPr>
      </p:pic>
    </p:spTree>
    <p:extLst>
      <p:ext uri="{BB962C8B-B14F-4D97-AF65-F5344CB8AC3E}">
        <p14:creationId xmlns:p14="http://schemas.microsoft.com/office/powerpoint/2010/main" val="12232698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bg>
      <p:bgPr>
        <a:solidFill>
          <a:srgbClr val="FFFFFF"/>
        </a:solidFill>
        <a:effectLst/>
      </p:bgPr>
    </p:bg>
    <p:spTree>
      <p:nvGrpSpPr>
        <p:cNvPr id="1" name="">
          <a:extLst>
            <a:ext uri="{FF2B5EF4-FFF2-40B4-BE49-F238E27FC236}">
              <a16:creationId xmlns:a16="http://schemas.microsoft.com/office/drawing/2014/main" id="{A0B6392E-34C6-F7A5-12CA-CF6F3DCD2B8F}"/>
            </a:ext>
          </a:extLst>
        </p:cNvPr>
        <p:cNvGrpSpPr/>
        <p:nvPr/>
      </p:nvGrpSpPr>
      <p:grpSpPr bwMode="auto">
        <a:xfrm>
          <a:off x="0" y="0"/>
          <a:ext cx="0" cy="0"/>
          <a:chOff x="0" y="0"/>
          <a:chExt cx="0" cy="0"/>
        </a:xfrm>
      </p:grpSpPr>
      <p:sp>
        <p:nvSpPr>
          <p:cNvPr id="878604334" name="TextBox 739767261">
            <a:extLst>
              <a:ext uri="{FF2B5EF4-FFF2-40B4-BE49-F238E27FC236}">
                <a16:creationId xmlns:a16="http://schemas.microsoft.com/office/drawing/2014/main" id="{151CFCEC-0664-C2B6-BB45-F4F673E131E6}"/>
              </a:ext>
            </a:extLst>
          </p:cNvPr>
          <p:cNvSpPr txBox="1"/>
          <p:nvPr/>
        </p:nvSpPr>
        <p:spPr bwMode="auto">
          <a:xfrm>
            <a:off x="523609" y="347686"/>
            <a:ext cx="12370354" cy="717632"/>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4000" b="1" dirty="0">
                <a:solidFill>
                  <a:srgbClr val="000000"/>
                </a:solidFill>
                <a:latin typeface="Montserrat" pitchFamily="2" charset="0"/>
              </a:rPr>
              <a:t>DISCUSSION (CONTINUED):</a:t>
            </a:r>
          </a:p>
        </p:txBody>
      </p:sp>
      <p:sp>
        <p:nvSpPr>
          <p:cNvPr id="438249054" name="Rectangle 3">
            <a:extLst>
              <a:ext uri="{FF2B5EF4-FFF2-40B4-BE49-F238E27FC236}">
                <a16:creationId xmlns:a16="http://schemas.microsoft.com/office/drawing/2014/main" id="{DC81E779-7FEC-0141-D274-ED1D8D446C2F}"/>
              </a:ext>
            </a:extLst>
          </p:cNvPr>
          <p:cNvSpPr/>
          <p:nvPr/>
        </p:nvSpPr>
        <p:spPr bwMode="auto">
          <a:xfrm>
            <a:off x="670560" y="1084042"/>
            <a:ext cx="10668000" cy="28575"/>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latin typeface="Montserrat" pitchFamily="2" charset="0"/>
            </a:endParaRPr>
          </a:p>
        </p:txBody>
      </p:sp>
      <p:sp>
        <p:nvSpPr>
          <p:cNvPr id="8" name="TextBox 7">
            <a:extLst>
              <a:ext uri="{FF2B5EF4-FFF2-40B4-BE49-F238E27FC236}">
                <a16:creationId xmlns:a16="http://schemas.microsoft.com/office/drawing/2014/main" id="{09FB1579-BE3E-1294-DB54-B809F9F9C074}"/>
              </a:ext>
            </a:extLst>
          </p:cNvPr>
          <p:cNvSpPr txBox="1"/>
          <p:nvPr/>
        </p:nvSpPr>
        <p:spPr>
          <a:xfrm>
            <a:off x="761076" y="1253734"/>
            <a:ext cx="10284876" cy="5062924"/>
          </a:xfrm>
          <a:prstGeom prst="rect">
            <a:avLst/>
          </a:prstGeom>
          <a:noFill/>
        </p:spPr>
        <p:txBody>
          <a:bodyPr wrap="square" anchor="ctr">
            <a:spAutoFit/>
          </a:bodyPr>
          <a:lstStyle/>
          <a:p>
            <a:pPr marL="285750" indent="-285750">
              <a:buFont typeface="Arial" panose="020B0604020202020204" pitchFamily="34" charset="0"/>
              <a:buChar char="•"/>
            </a:pPr>
            <a:r>
              <a:rPr lang="en-US" sz="1700" dirty="0">
                <a:latin typeface="Montserrat" pitchFamily="2" charset="0"/>
              </a:rPr>
              <a:t>Bankflow Analytics Replaces The Three-layer Lambda Design With A Single, Unified Medallion Architecture (Bronze → Silver → Gold), </a:t>
            </a:r>
            <a:r>
              <a:rPr lang="en-US" sz="1700" dirty="0" err="1">
                <a:latin typeface="Montserrat" pitchFamily="2" charset="0"/>
              </a:rPr>
              <a:t>Reducin</a:t>
            </a:r>
            <a:r>
              <a:rPr lang="en-US" sz="1700" dirty="0">
                <a:latin typeface="Montserrat" pitchFamily="2" charset="0"/>
              </a:rPr>
              <a:t> Operational Complexity, As The Base Paper Itself Recommends Exploring.</a:t>
            </a:r>
            <a:br>
              <a:rPr lang="en-US" sz="1700" dirty="0">
                <a:latin typeface="Montserrat" pitchFamily="2" charset="0"/>
              </a:rPr>
            </a:br>
            <a:endParaRPr lang="en-US" sz="1700" dirty="0">
              <a:latin typeface="Montserrat" pitchFamily="2" charset="0"/>
            </a:endParaRPr>
          </a:p>
          <a:p>
            <a:pPr marL="285750" indent="-285750">
              <a:buFont typeface="Arial" panose="020B0604020202020204" pitchFamily="34" charset="0"/>
              <a:buChar char="•"/>
            </a:pPr>
            <a:r>
              <a:rPr lang="en-US" sz="1700" dirty="0">
                <a:latin typeface="Montserrat" pitchFamily="2" charset="0"/>
              </a:rPr>
              <a:t>Ingestion Is Made Explicit And Reproducible Using Apache Kafka Running In Docker With Retry-based, Acknowledgement-driven Delivery.</a:t>
            </a:r>
            <a:br>
              <a:rPr lang="en-US" sz="1700" dirty="0">
                <a:latin typeface="Montserrat" pitchFamily="2" charset="0"/>
              </a:rPr>
            </a:br>
            <a:endParaRPr lang="en-US" sz="1700" dirty="0">
              <a:latin typeface="Montserrat" pitchFamily="2" charset="0"/>
            </a:endParaRPr>
          </a:p>
          <a:p>
            <a:pPr marL="285750" indent="-285750">
              <a:buFont typeface="Arial" panose="020B0604020202020204" pitchFamily="34" charset="0"/>
              <a:buChar char="•"/>
            </a:pPr>
            <a:r>
              <a:rPr lang="en-US" sz="1700" dirty="0">
                <a:latin typeface="Montserrat" pitchFamily="2" charset="0"/>
              </a:rPr>
              <a:t>A Dedicated Quarantine Layer, Absent In The Base Paper's Design, Isolates Malformed Or Invalid Transactions Without Interrupting The Main Stream.</a:t>
            </a:r>
            <a:br>
              <a:rPr lang="en-US" sz="1700" dirty="0">
                <a:latin typeface="Montserrat" pitchFamily="2" charset="0"/>
              </a:rPr>
            </a:br>
            <a:endParaRPr lang="en-US" sz="1700" dirty="0">
              <a:latin typeface="Montserrat" pitchFamily="2" charset="0"/>
            </a:endParaRPr>
          </a:p>
          <a:p>
            <a:pPr marL="285750" indent="-285750">
              <a:buFont typeface="Arial" panose="020B0604020202020204" pitchFamily="34" charset="0"/>
              <a:buChar char="•"/>
            </a:pPr>
            <a:r>
              <a:rPr lang="en-US" sz="1700" dirty="0">
                <a:latin typeface="Montserrat" pitchFamily="2" charset="0"/>
              </a:rPr>
              <a:t>Anomaly Detection Is Fully Rule-based And Explainable (Weighted Scoring With Plain-language Reasons), Rather Than An Opaque Detection Stage.</a:t>
            </a:r>
            <a:br>
              <a:rPr lang="en-US" sz="1700" dirty="0">
                <a:latin typeface="Montserrat" pitchFamily="2" charset="0"/>
              </a:rPr>
            </a:br>
            <a:endParaRPr lang="en-US" sz="1700" dirty="0">
              <a:latin typeface="Montserrat" pitchFamily="2" charset="0"/>
            </a:endParaRPr>
          </a:p>
          <a:p>
            <a:pPr marL="285750" indent="-285750">
              <a:buFont typeface="Arial" panose="020B0604020202020204" pitchFamily="34" charset="0"/>
              <a:buChar char="•"/>
            </a:pPr>
            <a:r>
              <a:rPr lang="en-US" sz="1700" dirty="0">
                <a:latin typeface="Montserrat" pitchFamily="2" charset="0"/>
              </a:rPr>
              <a:t>The Entire Pipeline — Ingestion, Processing, Storage, And Warehouse Loading — Is Reproducible With Docker, And Was Executed And Verified End-to-end As Part Of This Review.</a:t>
            </a:r>
            <a:br>
              <a:rPr lang="en-US" sz="1700" dirty="0">
                <a:latin typeface="Montserrat" pitchFamily="2" charset="0"/>
              </a:rPr>
            </a:br>
            <a:endParaRPr lang="en-US" sz="1700" dirty="0">
              <a:latin typeface="Montserrat" pitchFamily="2" charset="0"/>
            </a:endParaRPr>
          </a:p>
          <a:p>
            <a:pPr marL="285750" indent="-285750">
              <a:buFont typeface="Arial" panose="020B0604020202020204" pitchFamily="34" charset="0"/>
              <a:buChar char="•"/>
            </a:pPr>
            <a:r>
              <a:rPr lang="en-US" sz="1700" dirty="0">
                <a:latin typeface="Montserrat" pitchFamily="2" charset="0"/>
              </a:rPr>
              <a:t>Current Limitation: Anomaly Thresholds Are Manually Configured Rather Than Learned From Real Transaction Distributions, And The Deployment Is Single-broker / Single-node.</a:t>
            </a:r>
          </a:p>
        </p:txBody>
      </p:sp>
    </p:spTree>
    <p:extLst>
      <p:ext uri="{BB962C8B-B14F-4D97-AF65-F5344CB8AC3E}">
        <p14:creationId xmlns:p14="http://schemas.microsoft.com/office/powerpoint/2010/main" val="15596098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bg>
      <p:bgPr>
        <a:solidFill>
          <a:srgbClr val="FFFFFF"/>
        </a:solidFill>
        <a:effectLst/>
      </p:bgPr>
    </p:bg>
    <p:spTree>
      <p:nvGrpSpPr>
        <p:cNvPr id="1" name="">
          <a:extLst>
            <a:ext uri="{FF2B5EF4-FFF2-40B4-BE49-F238E27FC236}">
              <a16:creationId xmlns:a16="http://schemas.microsoft.com/office/drawing/2014/main" id="{1D0EF9C3-9BEC-4ED1-1B4E-22C9A97CA042}"/>
            </a:ext>
          </a:extLst>
        </p:cNvPr>
        <p:cNvGrpSpPr/>
        <p:nvPr/>
      </p:nvGrpSpPr>
      <p:grpSpPr bwMode="auto">
        <a:xfrm>
          <a:off x="0" y="0"/>
          <a:ext cx="0" cy="0"/>
          <a:chOff x="0" y="0"/>
          <a:chExt cx="0" cy="0"/>
        </a:xfrm>
      </p:grpSpPr>
      <p:sp>
        <p:nvSpPr>
          <p:cNvPr id="878604334" name="TextBox 739767261">
            <a:extLst>
              <a:ext uri="{FF2B5EF4-FFF2-40B4-BE49-F238E27FC236}">
                <a16:creationId xmlns:a16="http://schemas.microsoft.com/office/drawing/2014/main" id="{CE59854A-A53E-8C7F-90B2-E640ECFDC9E3}"/>
              </a:ext>
            </a:extLst>
          </p:cNvPr>
          <p:cNvSpPr txBox="1"/>
          <p:nvPr/>
        </p:nvSpPr>
        <p:spPr bwMode="auto">
          <a:xfrm>
            <a:off x="569976" y="380697"/>
            <a:ext cx="12370354" cy="717632"/>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4000" b="1" dirty="0">
                <a:solidFill>
                  <a:srgbClr val="000000"/>
                </a:solidFill>
                <a:latin typeface="Montserrat" pitchFamily="2" charset="0"/>
              </a:rPr>
              <a:t>RESULTS</a:t>
            </a:r>
          </a:p>
        </p:txBody>
      </p:sp>
      <p:sp>
        <p:nvSpPr>
          <p:cNvPr id="438249054" name="Rectangle 3">
            <a:extLst>
              <a:ext uri="{FF2B5EF4-FFF2-40B4-BE49-F238E27FC236}">
                <a16:creationId xmlns:a16="http://schemas.microsoft.com/office/drawing/2014/main" id="{C41BBE45-18FA-1980-A418-76AC6484A5F3}"/>
              </a:ext>
            </a:extLst>
          </p:cNvPr>
          <p:cNvSpPr/>
          <p:nvPr/>
        </p:nvSpPr>
        <p:spPr bwMode="auto">
          <a:xfrm>
            <a:off x="670560" y="1084042"/>
            <a:ext cx="10668000" cy="28575"/>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latin typeface="Montserrat" pitchFamily="2" charset="0"/>
            </a:endParaRPr>
          </a:p>
        </p:txBody>
      </p:sp>
      <p:sp>
        <p:nvSpPr>
          <p:cNvPr id="8" name="TextBox 7">
            <a:extLst>
              <a:ext uri="{FF2B5EF4-FFF2-40B4-BE49-F238E27FC236}">
                <a16:creationId xmlns:a16="http://schemas.microsoft.com/office/drawing/2014/main" id="{A7226E20-ECB6-1C31-1C77-1A6F559C7BFA}"/>
              </a:ext>
            </a:extLst>
          </p:cNvPr>
          <p:cNvSpPr txBox="1"/>
          <p:nvPr/>
        </p:nvSpPr>
        <p:spPr>
          <a:xfrm>
            <a:off x="779364" y="1398588"/>
            <a:ext cx="10284876" cy="5047536"/>
          </a:xfrm>
          <a:prstGeom prst="rect">
            <a:avLst/>
          </a:prstGeom>
          <a:noFill/>
        </p:spPr>
        <p:txBody>
          <a:bodyPr wrap="square" anchor="ctr">
            <a:spAutoFit/>
          </a:bodyPr>
          <a:lstStyle/>
          <a:p>
            <a:pPr marL="285750" indent="-285750">
              <a:buFont typeface="Arial" panose="020B0604020202020204" pitchFamily="34" charset="0"/>
              <a:buChar char="•"/>
            </a:pPr>
            <a:r>
              <a:rPr lang="en-US" sz="1400" dirty="0">
                <a:latin typeface="Montserrat" pitchFamily="2" charset="0"/>
              </a:rPr>
              <a:t>Kafka broker deployed successfully in </a:t>
            </a:r>
            <a:r>
              <a:rPr lang="en-US" sz="1400" dirty="0" err="1">
                <a:latin typeface="Montserrat" pitchFamily="2" charset="0"/>
              </a:rPr>
              <a:t>KRaft</a:t>
            </a:r>
            <a:r>
              <a:rPr lang="en-US" sz="1400" dirty="0">
                <a:latin typeface="Montserrat" pitchFamily="2" charset="0"/>
              </a:rPr>
              <a:t> mode via Docker; all three topics created idempotently (`</a:t>
            </a:r>
            <a:r>
              <a:rPr lang="en-US" sz="1400" dirty="0" err="1">
                <a:latin typeface="Montserrat" pitchFamily="2" charset="0"/>
              </a:rPr>
              <a:t>bank_transactions</a:t>
            </a:r>
            <a:r>
              <a:rPr lang="en-US" sz="1400" dirty="0">
                <a:latin typeface="Montserrat" pitchFamily="2" charset="0"/>
              </a:rPr>
              <a:t>`, </a:t>
            </a:r>
            <a:r>
              <a:rPr lang="en-US" sz="1400" dirty="0" err="1">
                <a:latin typeface="Montserrat" pitchFamily="2" charset="0"/>
              </a:rPr>
              <a:t>bank_transactions_quarantine</a:t>
            </a:r>
            <a:r>
              <a:rPr lang="en-US" sz="1400" dirty="0">
                <a:latin typeface="Montserrat" pitchFamily="2" charset="0"/>
              </a:rPr>
              <a:t>, `</a:t>
            </a:r>
            <a:r>
              <a:rPr lang="en-US" sz="1400" dirty="0" err="1">
                <a:latin typeface="Montserrat" pitchFamily="2" charset="0"/>
              </a:rPr>
              <a:t>bank_transactions_anomaly</a:t>
            </a:r>
            <a:r>
              <a:rPr lang="en-US" sz="1400" dirty="0">
                <a:latin typeface="Montserrat" pitchFamily="2" charset="0"/>
              </a:rPr>
              <a:t>`).</a:t>
            </a:r>
            <a:br>
              <a:rPr lang="en-US" sz="1400" dirty="0">
                <a:latin typeface="Montserrat" pitchFamily="2" charset="0"/>
              </a:rPr>
            </a:br>
            <a:endParaRPr lang="en-US" sz="1400" dirty="0">
              <a:latin typeface="Montserrat" pitchFamily="2" charset="0"/>
            </a:endParaRPr>
          </a:p>
          <a:p>
            <a:pPr marL="285750" indent="-285750">
              <a:buFont typeface="Arial" panose="020B0604020202020204" pitchFamily="34" charset="0"/>
              <a:buChar char="•"/>
            </a:pPr>
            <a:r>
              <a:rPr lang="en-US" sz="1400" dirty="0" err="1">
                <a:latin typeface="Montserrat" pitchFamily="2" charset="0"/>
              </a:rPr>
              <a:t>PySpark</a:t>
            </a:r>
            <a:r>
              <a:rPr lang="en-US" sz="1400" dirty="0">
                <a:latin typeface="Montserrat" pitchFamily="2" charset="0"/>
              </a:rPr>
              <a:t> Structured Streaming job started successfully and simultaneously opened three Delta Lake sinks (Bronze, Silver, Quarantine), confirmed via live application logs.</a:t>
            </a:r>
            <a:br>
              <a:rPr lang="en-US" sz="1400" dirty="0">
                <a:latin typeface="Montserrat" pitchFamily="2" charset="0"/>
              </a:rPr>
            </a:br>
            <a:endParaRPr lang="en-US" sz="1400" dirty="0">
              <a:latin typeface="Montserrat" pitchFamily="2" charset="0"/>
            </a:endParaRPr>
          </a:p>
          <a:p>
            <a:pPr marL="285750" indent="-285750">
              <a:buFont typeface="Arial" panose="020B0604020202020204" pitchFamily="34" charset="0"/>
              <a:buChar char="•"/>
            </a:pPr>
            <a:r>
              <a:rPr lang="en-US" sz="1400" dirty="0">
                <a:latin typeface="Montserrat" pitchFamily="2" charset="0"/>
              </a:rPr>
              <a:t>The synthetic generator produced live transaction traffic that was consumed by the streaming job in real time through Kafka.</a:t>
            </a:r>
            <a:br>
              <a:rPr lang="en-US" sz="1400" dirty="0">
                <a:latin typeface="Montserrat" pitchFamily="2" charset="0"/>
              </a:rPr>
            </a:br>
            <a:endParaRPr lang="en-US" sz="1400" dirty="0">
              <a:latin typeface="Montserrat" pitchFamily="2" charset="0"/>
            </a:endParaRPr>
          </a:p>
          <a:p>
            <a:pPr marL="285750" indent="-285750">
              <a:buFont typeface="Arial" panose="020B0604020202020204" pitchFamily="34" charset="0"/>
              <a:buChar char="•"/>
            </a:pPr>
            <a:r>
              <a:rPr lang="en-US" sz="1400" dirty="0">
                <a:latin typeface="Montserrat" pitchFamily="2" charset="0"/>
              </a:rPr>
              <a:t>In an end-to-end pipeline run, 1,514 raw events were generated: 1,482 passed validation and 32 were correctly quarantined for schema/data violations.</a:t>
            </a:r>
            <a:br>
              <a:rPr lang="en-US" sz="1400" dirty="0">
                <a:latin typeface="Montserrat" pitchFamily="2" charset="0"/>
              </a:rPr>
            </a:br>
            <a:endParaRPr lang="en-US" sz="1400" dirty="0">
              <a:latin typeface="Montserrat" pitchFamily="2" charset="0"/>
            </a:endParaRPr>
          </a:p>
          <a:p>
            <a:pPr marL="285750" indent="-285750">
              <a:buFont typeface="Arial" panose="020B0604020202020204" pitchFamily="34" charset="0"/>
              <a:buChar char="•"/>
            </a:pPr>
            <a:r>
              <a:rPr lang="en-US" sz="1400" dirty="0">
                <a:latin typeface="Montserrat" pitchFamily="2" charset="0"/>
              </a:rPr>
              <a:t>The rule-based anomaly engine flagged 467 of 1,482 valid transactions (~31.5%) as ANOMALY-band, each carrying explainable reasons such as HIGH_AMOUNT, TRANSACTION_BURST, or REPEATED_FAILURES.</a:t>
            </a:r>
            <a:br>
              <a:rPr lang="en-US" sz="1400" dirty="0">
                <a:latin typeface="Montserrat" pitchFamily="2" charset="0"/>
              </a:rPr>
            </a:br>
            <a:endParaRPr lang="en-US" sz="1400" dirty="0">
              <a:latin typeface="Montserrat" pitchFamily="2" charset="0"/>
            </a:endParaRPr>
          </a:p>
          <a:p>
            <a:pPr marL="285750" indent="-285750">
              <a:buFont typeface="Arial" panose="020B0604020202020204" pitchFamily="34" charset="0"/>
              <a:buChar char="•"/>
            </a:pPr>
            <a:r>
              <a:rPr lang="en-US" sz="1400" dirty="0">
                <a:latin typeface="Montserrat" pitchFamily="2" charset="0"/>
              </a:rPr>
              <a:t>The Gold-layer SQLite warehouse was populated with a full star schema; direct SQL browsing confirmed 2,100 rows across 10 tables, including </a:t>
            </a:r>
            <a:r>
              <a:rPr lang="en-US" sz="1400" dirty="0" err="1">
                <a:latin typeface="Montserrat" pitchFamily="2" charset="0"/>
              </a:rPr>
              <a:t>fact_transactions</a:t>
            </a:r>
            <a:r>
              <a:rPr lang="en-US" sz="1400" dirty="0">
                <a:latin typeface="Montserrat" pitchFamily="2" charset="0"/>
              </a:rPr>
              <a:t> and </a:t>
            </a:r>
            <a:r>
              <a:rPr lang="en-US" sz="1400" dirty="0" err="1">
                <a:latin typeface="Montserrat" pitchFamily="2" charset="0"/>
              </a:rPr>
              <a:t>account_risk_summary</a:t>
            </a:r>
            <a:r>
              <a:rPr lang="en-US" sz="1400" dirty="0">
                <a:latin typeface="Montserrat" pitchFamily="2" charset="0"/>
              </a:rPr>
              <a:t>.</a:t>
            </a:r>
            <a:br>
              <a:rPr lang="en-US" sz="1400" dirty="0">
                <a:latin typeface="Montserrat" pitchFamily="2" charset="0"/>
              </a:rPr>
            </a:br>
            <a:endParaRPr lang="en-US" sz="1400" dirty="0">
              <a:latin typeface="Montserrat" pitchFamily="2" charset="0"/>
            </a:endParaRPr>
          </a:p>
          <a:p>
            <a:pPr marL="285750" indent="-285750">
              <a:buFont typeface="Arial" panose="020B0604020202020204" pitchFamily="34" charset="0"/>
              <a:buChar char="•"/>
            </a:pPr>
            <a:r>
              <a:rPr lang="en-US" sz="1400" dirty="0">
                <a:latin typeface="Montserrat" pitchFamily="2" charset="0"/>
              </a:rPr>
              <a:t>Data-quality validation queries confirmed zero orphaned foreign keys, zero inconsistent anomaly flags, and zero invalid transaction amounts in the Gold layer.</a:t>
            </a:r>
            <a:br>
              <a:rPr lang="en-US" sz="1400" dirty="0">
                <a:latin typeface="Montserrat" pitchFamily="2" charset="0"/>
              </a:rPr>
            </a:br>
            <a:endParaRPr lang="en-US" sz="1400" dirty="0">
              <a:latin typeface="Montserrat" pitchFamily="2" charset="0"/>
            </a:endParaRPr>
          </a:p>
          <a:p>
            <a:pPr marL="285750" indent="-285750">
              <a:buFont typeface="Arial" panose="020B0604020202020204" pitchFamily="34" charset="0"/>
              <a:buChar char="•"/>
            </a:pPr>
            <a:r>
              <a:rPr lang="en-US" sz="1400" dirty="0">
                <a:latin typeface="Montserrat" pitchFamily="2" charset="0"/>
              </a:rPr>
              <a:t>All 17 automated unit and integration tests passed, covering generation, validation, anomaly detection, transformations, and the Silver-to-Gold pipeline.</a:t>
            </a:r>
          </a:p>
        </p:txBody>
      </p:sp>
    </p:spTree>
    <p:extLst>
      <p:ext uri="{BB962C8B-B14F-4D97-AF65-F5344CB8AC3E}">
        <p14:creationId xmlns:p14="http://schemas.microsoft.com/office/powerpoint/2010/main" val="33585201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bg>
      <p:bgPr>
        <a:solidFill>
          <a:srgbClr val="FFFFFF"/>
        </a:solidFill>
        <a:effectLst/>
      </p:bgPr>
    </p:bg>
    <p:spTree>
      <p:nvGrpSpPr>
        <p:cNvPr id="1" name="">
          <a:extLst>
            <a:ext uri="{FF2B5EF4-FFF2-40B4-BE49-F238E27FC236}">
              <a16:creationId xmlns:a16="http://schemas.microsoft.com/office/drawing/2014/main" id="{1914AD44-B3E6-7943-8FA1-6ED95691E75D}"/>
            </a:ext>
          </a:extLst>
        </p:cNvPr>
        <p:cNvGrpSpPr/>
        <p:nvPr/>
      </p:nvGrpSpPr>
      <p:grpSpPr bwMode="auto">
        <a:xfrm>
          <a:off x="0" y="0"/>
          <a:ext cx="0" cy="0"/>
          <a:chOff x="0" y="0"/>
          <a:chExt cx="0" cy="0"/>
        </a:xfrm>
      </p:grpSpPr>
      <p:sp>
        <p:nvSpPr>
          <p:cNvPr id="878604334" name="TextBox 739767261">
            <a:extLst>
              <a:ext uri="{FF2B5EF4-FFF2-40B4-BE49-F238E27FC236}">
                <a16:creationId xmlns:a16="http://schemas.microsoft.com/office/drawing/2014/main" id="{12483829-698F-8E07-5C7C-4E85AECA5E0A}"/>
              </a:ext>
            </a:extLst>
          </p:cNvPr>
          <p:cNvSpPr txBox="1"/>
          <p:nvPr/>
        </p:nvSpPr>
        <p:spPr bwMode="auto">
          <a:xfrm>
            <a:off x="551688" y="300367"/>
            <a:ext cx="12370354" cy="717632"/>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4000" b="1" dirty="0">
                <a:solidFill>
                  <a:srgbClr val="000000"/>
                </a:solidFill>
                <a:latin typeface="Montserrat" pitchFamily="2" charset="0"/>
              </a:rPr>
              <a:t>CONCLUSION</a:t>
            </a:r>
          </a:p>
        </p:txBody>
      </p:sp>
      <p:sp>
        <p:nvSpPr>
          <p:cNvPr id="438249054" name="Rectangle 3">
            <a:extLst>
              <a:ext uri="{FF2B5EF4-FFF2-40B4-BE49-F238E27FC236}">
                <a16:creationId xmlns:a16="http://schemas.microsoft.com/office/drawing/2014/main" id="{4B8B9F00-CBDA-CC46-8E3D-325ABB9E5B49}"/>
              </a:ext>
            </a:extLst>
          </p:cNvPr>
          <p:cNvSpPr/>
          <p:nvPr/>
        </p:nvSpPr>
        <p:spPr bwMode="auto">
          <a:xfrm>
            <a:off x="670560" y="1084042"/>
            <a:ext cx="10668000" cy="28575"/>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latin typeface="Montserrat" pitchFamily="2" charset="0"/>
            </a:endParaRPr>
          </a:p>
        </p:txBody>
      </p:sp>
      <p:sp>
        <p:nvSpPr>
          <p:cNvPr id="8" name="TextBox 7">
            <a:extLst>
              <a:ext uri="{FF2B5EF4-FFF2-40B4-BE49-F238E27FC236}">
                <a16:creationId xmlns:a16="http://schemas.microsoft.com/office/drawing/2014/main" id="{5D54E007-B24B-F143-88DF-6E61761BBF68}"/>
              </a:ext>
            </a:extLst>
          </p:cNvPr>
          <p:cNvSpPr txBox="1"/>
          <p:nvPr/>
        </p:nvSpPr>
        <p:spPr>
          <a:xfrm>
            <a:off x="779364" y="1244704"/>
            <a:ext cx="10284876" cy="5355312"/>
          </a:xfrm>
          <a:prstGeom prst="rect">
            <a:avLst/>
          </a:prstGeom>
          <a:noFill/>
        </p:spPr>
        <p:txBody>
          <a:bodyPr wrap="square" anchor="ctr">
            <a:spAutoFit/>
          </a:bodyPr>
          <a:lstStyle/>
          <a:p>
            <a:pPr marL="285750" indent="-285750">
              <a:buFont typeface="Arial" panose="020B0604020202020204" pitchFamily="34" charset="0"/>
              <a:buChar char="•"/>
            </a:pPr>
            <a:r>
              <a:rPr lang="en-US" dirty="0">
                <a:latin typeface="Montserrat" pitchFamily="2" charset="0"/>
              </a:rPr>
              <a:t>A working, end-to-end real-time transaction pipeline was implemented and executed: Python generator → Apache Kafka → </a:t>
            </a:r>
            <a:r>
              <a:rPr lang="en-US" dirty="0" err="1">
                <a:latin typeface="Montserrat" pitchFamily="2" charset="0"/>
              </a:rPr>
              <a:t>PySpark</a:t>
            </a:r>
            <a:r>
              <a:rPr lang="en-US" dirty="0">
                <a:latin typeface="Montserrat" pitchFamily="2" charset="0"/>
              </a:rPr>
              <a:t> Structured Streaming → Delta Lake (Bronze/Silver/Quarantine) → SQLite Gold star schema.</a:t>
            </a:r>
            <a:br>
              <a:rPr lang="en-US" dirty="0">
                <a:latin typeface="Montserrat" pitchFamily="2" charset="0"/>
              </a:rPr>
            </a:br>
            <a:endParaRPr lang="en-US" dirty="0">
              <a:latin typeface="Montserrat" pitchFamily="2" charset="0"/>
            </a:endParaRPr>
          </a:p>
          <a:p>
            <a:pPr marL="285750" indent="-285750">
              <a:buFont typeface="Arial" panose="020B0604020202020204" pitchFamily="34" charset="0"/>
              <a:buChar char="•"/>
            </a:pPr>
            <a:r>
              <a:rPr lang="en-US" dirty="0">
                <a:latin typeface="Montserrat" pitchFamily="2" charset="0"/>
              </a:rPr>
              <a:t>The anomaly detection engine is fully explainable, giving every flagged transaction a human-readable reason rather than an opaque score.</a:t>
            </a:r>
            <a:br>
              <a:rPr lang="en-US" dirty="0">
                <a:latin typeface="Montserrat" pitchFamily="2" charset="0"/>
              </a:rPr>
            </a:br>
            <a:endParaRPr lang="en-US" dirty="0">
              <a:latin typeface="Montserrat" pitchFamily="2" charset="0"/>
            </a:endParaRPr>
          </a:p>
          <a:p>
            <a:pPr marL="285750" indent="-285750">
              <a:buFont typeface="Arial" panose="020B0604020202020204" pitchFamily="34" charset="0"/>
              <a:buChar char="•"/>
            </a:pPr>
            <a:r>
              <a:rPr lang="en-US" dirty="0">
                <a:latin typeface="Montserrat" pitchFamily="2" charset="0"/>
              </a:rPr>
              <a:t>The Quarantine layer ensures malformed data cannot break downstream processing, directly addressing a gap identified in the literature survey.</a:t>
            </a:r>
            <a:br>
              <a:rPr lang="en-US" dirty="0">
                <a:latin typeface="Montserrat" pitchFamily="2" charset="0"/>
              </a:rPr>
            </a:br>
            <a:endParaRPr lang="en-US" dirty="0">
              <a:latin typeface="Montserrat" pitchFamily="2" charset="0"/>
            </a:endParaRPr>
          </a:p>
          <a:p>
            <a:pPr marL="285750" indent="-285750">
              <a:buFont typeface="Arial" panose="020B0604020202020204" pitchFamily="34" charset="0"/>
              <a:buChar char="•"/>
            </a:pPr>
            <a:r>
              <a:rPr lang="en-US" dirty="0">
                <a:latin typeface="Montserrat" pitchFamily="2" charset="0"/>
              </a:rPr>
              <a:t>The pipeline is reproducible: it was </a:t>
            </a:r>
            <a:r>
              <a:rPr lang="en-US" dirty="0" err="1">
                <a:latin typeface="Montserrat" pitchFamily="2" charset="0"/>
              </a:rPr>
              <a:t>containerised</a:t>
            </a:r>
            <a:r>
              <a:rPr lang="en-US" dirty="0">
                <a:latin typeface="Montserrat" pitchFamily="2" charset="0"/>
              </a:rPr>
              <a:t> with Docker and executed with real Kafka and Spark infrastructure, not a simulated substitute.</a:t>
            </a:r>
            <a:br>
              <a:rPr lang="en-US" dirty="0">
                <a:latin typeface="Montserrat" pitchFamily="2" charset="0"/>
              </a:rPr>
            </a:br>
            <a:endParaRPr lang="en-US" dirty="0">
              <a:latin typeface="Montserrat" pitchFamily="2" charset="0"/>
            </a:endParaRPr>
          </a:p>
          <a:p>
            <a:pPr marL="285750" indent="-285750">
              <a:buFont typeface="Arial" panose="020B0604020202020204" pitchFamily="34" charset="0"/>
              <a:buChar char="•"/>
            </a:pPr>
            <a:r>
              <a:rPr lang="en-US" dirty="0">
                <a:latin typeface="Montserrat" pitchFamily="2" charset="0"/>
              </a:rPr>
              <a:t>Automated testing (17 passing unit/integration tests) and dedicated data-quality validation queries confirm the correctness of the Gold-layer warehouse.</a:t>
            </a:r>
            <a:br>
              <a:rPr lang="en-US" dirty="0">
                <a:latin typeface="Montserrat" pitchFamily="2" charset="0"/>
              </a:rPr>
            </a:br>
            <a:endParaRPr lang="en-US" dirty="0">
              <a:latin typeface="Montserrat" pitchFamily="2" charset="0"/>
            </a:endParaRPr>
          </a:p>
          <a:p>
            <a:pPr marL="285750" indent="-285750">
              <a:buFont typeface="Arial" panose="020B0604020202020204" pitchFamily="34" charset="0"/>
              <a:buChar char="•"/>
            </a:pPr>
            <a:r>
              <a:rPr lang="en-US" dirty="0">
                <a:latin typeface="Montserrat" pitchFamily="2" charset="0"/>
              </a:rPr>
              <a:t>Current scope is a single-broker, single-node deployment with manually configured anomaly thresholds; workflow orchestration and dashboarding are planned next steps rather than completed components.</a:t>
            </a:r>
          </a:p>
        </p:txBody>
      </p:sp>
    </p:spTree>
    <p:extLst>
      <p:ext uri="{BB962C8B-B14F-4D97-AF65-F5344CB8AC3E}">
        <p14:creationId xmlns:p14="http://schemas.microsoft.com/office/powerpoint/2010/main" val="18111585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bg>
      <p:bgPr>
        <a:solidFill>
          <a:srgbClr val="FFFFFF"/>
        </a:solidFill>
        <a:effectLst/>
      </p:bgPr>
    </p:bg>
    <p:spTree>
      <p:nvGrpSpPr>
        <p:cNvPr id="1" name="">
          <a:extLst>
            <a:ext uri="{FF2B5EF4-FFF2-40B4-BE49-F238E27FC236}">
              <a16:creationId xmlns:a16="http://schemas.microsoft.com/office/drawing/2014/main" id="{E39A9B54-7233-9A83-037C-E8215DAE1631}"/>
            </a:ext>
          </a:extLst>
        </p:cNvPr>
        <p:cNvGrpSpPr/>
        <p:nvPr/>
      </p:nvGrpSpPr>
      <p:grpSpPr bwMode="auto">
        <a:xfrm>
          <a:off x="0" y="0"/>
          <a:ext cx="0" cy="0"/>
          <a:chOff x="0" y="0"/>
          <a:chExt cx="0" cy="0"/>
        </a:xfrm>
      </p:grpSpPr>
      <p:sp>
        <p:nvSpPr>
          <p:cNvPr id="878604334" name="TextBox 739767261">
            <a:extLst>
              <a:ext uri="{FF2B5EF4-FFF2-40B4-BE49-F238E27FC236}">
                <a16:creationId xmlns:a16="http://schemas.microsoft.com/office/drawing/2014/main" id="{1094742E-058A-7E2C-8073-1B277EA91593}"/>
              </a:ext>
            </a:extLst>
          </p:cNvPr>
          <p:cNvSpPr txBox="1"/>
          <p:nvPr/>
        </p:nvSpPr>
        <p:spPr bwMode="auto">
          <a:xfrm>
            <a:off x="551688" y="394985"/>
            <a:ext cx="12370354" cy="717632"/>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4000" b="1" dirty="0">
                <a:solidFill>
                  <a:srgbClr val="000000"/>
                </a:solidFill>
                <a:latin typeface="Montserrat" pitchFamily="2" charset="0"/>
              </a:rPr>
              <a:t>FUTURE DIRECTION</a:t>
            </a:r>
          </a:p>
        </p:txBody>
      </p:sp>
      <p:sp>
        <p:nvSpPr>
          <p:cNvPr id="438249054" name="Rectangle 3">
            <a:extLst>
              <a:ext uri="{FF2B5EF4-FFF2-40B4-BE49-F238E27FC236}">
                <a16:creationId xmlns:a16="http://schemas.microsoft.com/office/drawing/2014/main" id="{B6C2B05D-B32E-C0F3-A716-AC7DA34DDCBC}"/>
              </a:ext>
            </a:extLst>
          </p:cNvPr>
          <p:cNvSpPr/>
          <p:nvPr/>
        </p:nvSpPr>
        <p:spPr bwMode="auto">
          <a:xfrm>
            <a:off x="670560" y="1084042"/>
            <a:ext cx="10668000" cy="28575"/>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latin typeface="Montserrat" pitchFamily="2" charset="0"/>
            </a:endParaRPr>
          </a:p>
        </p:txBody>
      </p:sp>
      <p:sp>
        <p:nvSpPr>
          <p:cNvPr id="8" name="TextBox 7">
            <a:extLst>
              <a:ext uri="{FF2B5EF4-FFF2-40B4-BE49-F238E27FC236}">
                <a16:creationId xmlns:a16="http://schemas.microsoft.com/office/drawing/2014/main" id="{2DA8ABBB-DE8E-D96A-A078-53F1BF1F22AF}"/>
              </a:ext>
            </a:extLst>
          </p:cNvPr>
          <p:cNvSpPr txBox="1"/>
          <p:nvPr/>
        </p:nvSpPr>
        <p:spPr>
          <a:xfrm>
            <a:off x="779364" y="1266483"/>
            <a:ext cx="10284876" cy="5078313"/>
          </a:xfrm>
          <a:prstGeom prst="rect">
            <a:avLst/>
          </a:prstGeom>
          <a:noFill/>
        </p:spPr>
        <p:txBody>
          <a:bodyPr wrap="square" anchor="ctr">
            <a:spAutoFit/>
          </a:bodyPr>
          <a:lstStyle/>
          <a:p>
            <a:pPr marL="285750" indent="-285750">
              <a:buFont typeface="Arial" panose="020B0604020202020204" pitchFamily="34" charset="0"/>
              <a:buChar char="•"/>
            </a:pPr>
            <a:r>
              <a:rPr lang="en-US" dirty="0">
                <a:latin typeface="Montserrat" pitchFamily="2" charset="0"/>
              </a:rPr>
              <a:t>Integrate Apache Airflow to automate and schedule the Silver-to-Gold batch load, replacing the current manual execution.</a:t>
            </a:r>
            <a:br>
              <a:rPr lang="en-US" dirty="0">
                <a:latin typeface="Montserrat" pitchFamily="2" charset="0"/>
              </a:rPr>
            </a:br>
            <a:endParaRPr lang="en-US" dirty="0">
              <a:latin typeface="Montserrat" pitchFamily="2" charset="0"/>
            </a:endParaRPr>
          </a:p>
          <a:p>
            <a:pPr marL="285750" indent="-285750">
              <a:buFont typeface="Arial" panose="020B0604020202020204" pitchFamily="34" charset="0"/>
              <a:buChar char="•"/>
            </a:pPr>
            <a:r>
              <a:rPr lang="en-US" dirty="0">
                <a:latin typeface="Montserrat" pitchFamily="2" charset="0"/>
              </a:rPr>
              <a:t>Connect a business intelligence tool (e.g., Power BI) to the Gold-layer SQLite warehouse for interactive dashboards covering transaction volume, value, and anomaly trends.</a:t>
            </a:r>
            <a:br>
              <a:rPr lang="en-US" dirty="0">
                <a:latin typeface="Montserrat" pitchFamily="2" charset="0"/>
              </a:rPr>
            </a:br>
            <a:endParaRPr lang="en-US" dirty="0">
              <a:latin typeface="Montserrat" pitchFamily="2" charset="0"/>
            </a:endParaRPr>
          </a:p>
          <a:p>
            <a:pPr marL="285750" indent="-285750">
              <a:buFont typeface="Arial" panose="020B0604020202020204" pitchFamily="34" charset="0"/>
              <a:buChar char="•"/>
            </a:pPr>
            <a:r>
              <a:rPr lang="en-US" dirty="0">
                <a:latin typeface="Montserrat" pitchFamily="2" charset="0"/>
              </a:rPr>
              <a:t>Tune anomaly-scoring thresholds using statistical baselines derived from real or larger synthetic transaction volumes rather than fixed manual values.</a:t>
            </a:r>
            <a:br>
              <a:rPr lang="en-US" dirty="0">
                <a:latin typeface="Montserrat" pitchFamily="2" charset="0"/>
              </a:rPr>
            </a:br>
            <a:endParaRPr lang="en-US" dirty="0">
              <a:latin typeface="Montserrat" pitchFamily="2" charset="0"/>
            </a:endParaRPr>
          </a:p>
          <a:p>
            <a:pPr marL="285750" indent="-285750">
              <a:buFont typeface="Arial" panose="020B0604020202020204" pitchFamily="34" charset="0"/>
              <a:buChar char="•"/>
            </a:pPr>
            <a:r>
              <a:rPr lang="en-US" dirty="0">
                <a:latin typeface="Montserrat" pitchFamily="2" charset="0"/>
              </a:rPr>
              <a:t>Extend the anomaly engine with additional signals (e.g., merchant-category risk, velocity-based rules) and evaluate precision/recall once labelled data is available.</a:t>
            </a:r>
            <a:br>
              <a:rPr lang="en-US" dirty="0">
                <a:latin typeface="Montserrat" pitchFamily="2" charset="0"/>
              </a:rPr>
            </a:br>
            <a:endParaRPr lang="en-US" dirty="0">
              <a:latin typeface="Montserrat" pitchFamily="2" charset="0"/>
            </a:endParaRPr>
          </a:p>
          <a:p>
            <a:pPr marL="285750" indent="-285750">
              <a:buFont typeface="Arial" panose="020B0604020202020204" pitchFamily="34" charset="0"/>
              <a:buChar char="•"/>
            </a:pPr>
            <a:r>
              <a:rPr lang="en-US" dirty="0">
                <a:latin typeface="Montserrat" pitchFamily="2" charset="0"/>
              </a:rPr>
              <a:t>Scale the deployment to a multi-broker Kafka cluster and a multi-node Spark deployment for higher throughput.</a:t>
            </a:r>
            <a:br>
              <a:rPr lang="en-US" dirty="0">
                <a:latin typeface="Montserrat" pitchFamily="2" charset="0"/>
              </a:rPr>
            </a:br>
            <a:endParaRPr lang="en-US" dirty="0">
              <a:latin typeface="Montserrat" pitchFamily="2" charset="0"/>
            </a:endParaRPr>
          </a:p>
          <a:p>
            <a:pPr marL="285750" indent="-285750">
              <a:buFont typeface="Arial" panose="020B0604020202020204" pitchFamily="34" charset="0"/>
              <a:buChar char="•"/>
            </a:pPr>
            <a:r>
              <a:rPr lang="en-US" dirty="0">
                <a:latin typeface="Montserrat" pitchFamily="2" charset="0"/>
              </a:rPr>
              <a:t>Add CI-based automated test execution to run the existing test suite on every change.</a:t>
            </a:r>
          </a:p>
        </p:txBody>
      </p:sp>
    </p:spTree>
    <p:extLst>
      <p:ext uri="{BB962C8B-B14F-4D97-AF65-F5344CB8AC3E}">
        <p14:creationId xmlns:p14="http://schemas.microsoft.com/office/powerpoint/2010/main" val="21202433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bg>
      <p:bgPr>
        <a:solidFill>
          <a:srgbClr val="FFFFFF"/>
        </a:solidFill>
        <a:effectLst/>
      </p:bgPr>
    </p:bg>
    <p:spTree>
      <p:nvGrpSpPr>
        <p:cNvPr id="1" name="">
          <a:extLst>
            <a:ext uri="{FF2B5EF4-FFF2-40B4-BE49-F238E27FC236}">
              <a16:creationId xmlns:a16="http://schemas.microsoft.com/office/drawing/2014/main" id="{87CB0236-B1F2-A159-17CE-3F170C059F61}"/>
            </a:ext>
          </a:extLst>
        </p:cNvPr>
        <p:cNvGrpSpPr/>
        <p:nvPr/>
      </p:nvGrpSpPr>
      <p:grpSpPr bwMode="auto">
        <a:xfrm>
          <a:off x="0" y="0"/>
          <a:ext cx="0" cy="0"/>
          <a:chOff x="0" y="0"/>
          <a:chExt cx="0" cy="0"/>
        </a:xfrm>
      </p:grpSpPr>
      <p:sp>
        <p:nvSpPr>
          <p:cNvPr id="878604334" name="TextBox 739767261">
            <a:extLst>
              <a:ext uri="{FF2B5EF4-FFF2-40B4-BE49-F238E27FC236}">
                <a16:creationId xmlns:a16="http://schemas.microsoft.com/office/drawing/2014/main" id="{1F58D47A-4465-D5DA-58BE-DE6623BFC32F}"/>
              </a:ext>
            </a:extLst>
          </p:cNvPr>
          <p:cNvSpPr txBox="1"/>
          <p:nvPr/>
        </p:nvSpPr>
        <p:spPr bwMode="auto">
          <a:xfrm>
            <a:off x="551688" y="441845"/>
            <a:ext cx="12370354" cy="717632"/>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4000" b="1" dirty="0">
                <a:solidFill>
                  <a:srgbClr val="000000"/>
                </a:solidFill>
                <a:latin typeface="Montserrat" pitchFamily="2" charset="0"/>
              </a:rPr>
              <a:t>REFERENCES</a:t>
            </a:r>
          </a:p>
        </p:txBody>
      </p:sp>
      <p:sp>
        <p:nvSpPr>
          <p:cNvPr id="438249054" name="Rectangle 3">
            <a:extLst>
              <a:ext uri="{FF2B5EF4-FFF2-40B4-BE49-F238E27FC236}">
                <a16:creationId xmlns:a16="http://schemas.microsoft.com/office/drawing/2014/main" id="{9FCB988C-B255-8574-9D0A-91925FA9DA4B}"/>
              </a:ext>
            </a:extLst>
          </p:cNvPr>
          <p:cNvSpPr/>
          <p:nvPr/>
        </p:nvSpPr>
        <p:spPr bwMode="auto">
          <a:xfrm>
            <a:off x="670560" y="1084042"/>
            <a:ext cx="10668000" cy="28575"/>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latin typeface="Montserrat" pitchFamily="2" charset="0"/>
            </a:endParaRPr>
          </a:p>
        </p:txBody>
      </p:sp>
      <p:sp>
        <p:nvSpPr>
          <p:cNvPr id="8" name="TextBox 7">
            <a:extLst>
              <a:ext uri="{FF2B5EF4-FFF2-40B4-BE49-F238E27FC236}">
                <a16:creationId xmlns:a16="http://schemas.microsoft.com/office/drawing/2014/main" id="{8A0127AC-BFE5-DC0B-663B-190AF52103BC}"/>
              </a:ext>
            </a:extLst>
          </p:cNvPr>
          <p:cNvSpPr txBox="1"/>
          <p:nvPr/>
        </p:nvSpPr>
        <p:spPr>
          <a:xfrm>
            <a:off x="795528" y="1543481"/>
            <a:ext cx="10378440" cy="4524315"/>
          </a:xfrm>
          <a:prstGeom prst="rect">
            <a:avLst/>
          </a:prstGeom>
          <a:noFill/>
        </p:spPr>
        <p:txBody>
          <a:bodyPr wrap="square" anchor="ctr">
            <a:spAutoFit/>
          </a:bodyPr>
          <a:lstStyle/>
          <a:p>
            <a:pPr marL="285750" indent="-285750" algn="just">
              <a:buFont typeface="Arial" panose="020B0604020202020204" pitchFamily="34" charset="0"/>
              <a:buChar char="•"/>
            </a:pPr>
            <a:r>
              <a:rPr lang="en-US" dirty="0">
                <a:latin typeface="Montserrat" pitchFamily="2" charset="0"/>
              </a:rPr>
              <a:t>"Near Real-Time Anomaly Detection in Customer Transactions Using Lambda Architecture," IJIRCT.</a:t>
            </a:r>
          </a:p>
          <a:p>
            <a:pPr marL="285750" indent="-285750" algn="just">
              <a:buFont typeface="Arial" panose="020B0604020202020204" pitchFamily="34" charset="0"/>
              <a:buChar char="•"/>
            </a:pPr>
            <a:r>
              <a:rPr lang="en-US" dirty="0">
                <a:latin typeface="Montserrat" pitchFamily="2" charset="0"/>
              </a:rPr>
              <a:t>"Real Time Fraud Detection Using Machine Learning," IJIRT.</a:t>
            </a:r>
          </a:p>
          <a:p>
            <a:pPr marL="285750" indent="-285750" algn="just">
              <a:buFont typeface="Arial" panose="020B0604020202020204" pitchFamily="34" charset="0"/>
              <a:buChar char="•"/>
            </a:pPr>
            <a:r>
              <a:rPr lang="en-US" dirty="0">
                <a:latin typeface="Montserrat" pitchFamily="2" charset="0"/>
              </a:rPr>
              <a:t>"Real-Time Financial Data Processing Using Apache Spark and Kafka," IJDSML.</a:t>
            </a:r>
          </a:p>
          <a:p>
            <a:pPr marL="285750" indent="-285750" algn="just">
              <a:buFont typeface="Arial" panose="020B0604020202020204" pitchFamily="34" charset="0"/>
              <a:buChar char="•"/>
            </a:pPr>
            <a:r>
              <a:rPr lang="en-US" dirty="0">
                <a:latin typeface="Montserrat" pitchFamily="2" charset="0"/>
              </a:rPr>
              <a:t>"Real-Time Fraud Detection with Kafka Streams and Spring Boot," Medium.</a:t>
            </a:r>
          </a:p>
          <a:p>
            <a:pPr marL="285750" indent="-285750" algn="just">
              <a:buFont typeface="Arial" panose="020B0604020202020204" pitchFamily="34" charset="0"/>
              <a:buChar char="•"/>
            </a:pPr>
            <a:r>
              <a:rPr lang="en-US" dirty="0">
                <a:latin typeface="Montserrat" pitchFamily="2" charset="0"/>
              </a:rPr>
              <a:t>"Real-Time Data Streaming to Detect Financial Fraud Using Condense," </a:t>
            </a:r>
            <a:r>
              <a:rPr lang="en-US" dirty="0" err="1">
                <a:latin typeface="Montserrat" pitchFamily="2" charset="0"/>
              </a:rPr>
              <a:t>Zeliot</a:t>
            </a:r>
            <a:r>
              <a:rPr lang="en-US" dirty="0">
                <a:latin typeface="Montserrat" pitchFamily="2" charset="0"/>
              </a:rPr>
              <a:t>.</a:t>
            </a:r>
          </a:p>
          <a:p>
            <a:pPr marL="285750" indent="-285750" algn="just">
              <a:buFont typeface="Arial" panose="020B0604020202020204" pitchFamily="34" charset="0"/>
              <a:buChar char="•"/>
            </a:pPr>
            <a:r>
              <a:rPr lang="en-US" dirty="0">
                <a:latin typeface="Montserrat" pitchFamily="2" charset="0"/>
              </a:rPr>
              <a:t>"Real-Time Fraud Detection Using Kafka and Machine Learning," DEV Community.</a:t>
            </a:r>
          </a:p>
          <a:p>
            <a:pPr marL="285750" indent="-285750" algn="just">
              <a:buFont typeface="Arial" panose="020B0604020202020204" pitchFamily="34" charset="0"/>
              <a:buChar char="•"/>
            </a:pPr>
            <a:r>
              <a:rPr lang="en-US" dirty="0">
                <a:latin typeface="Montserrat" pitchFamily="2" charset="0"/>
              </a:rPr>
              <a:t>"Anomaly Detection: A Survey," ACM Computing Surveys.</a:t>
            </a:r>
          </a:p>
          <a:p>
            <a:pPr marL="285750" indent="-285750" algn="just">
              <a:buFont typeface="Arial" panose="020B0604020202020204" pitchFamily="34" charset="0"/>
              <a:buChar char="•"/>
            </a:pPr>
            <a:r>
              <a:rPr lang="en-US" dirty="0">
                <a:latin typeface="Montserrat" pitchFamily="2" charset="0"/>
              </a:rPr>
              <a:t>"SCARFF: A Scalable Framework for Streaming Credit Card Fraud Detection with Spark," ScienceDirect.</a:t>
            </a:r>
          </a:p>
          <a:p>
            <a:pPr marL="285750" indent="-285750" algn="just">
              <a:buFont typeface="Arial" panose="020B0604020202020204" pitchFamily="34" charset="0"/>
              <a:buChar char="•"/>
            </a:pPr>
            <a:r>
              <a:rPr lang="en-US" dirty="0">
                <a:latin typeface="Montserrat" pitchFamily="2" charset="0"/>
              </a:rPr>
              <a:t>"Credit Card Fraud Detection: A Realistic Modeling and a Novel Learning Strategy," IEEE.</a:t>
            </a:r>
          </a:p>
          <a:p>
            <a:pPr marL="285750" indent="-285750" algn="just">
              <a:buFont typeface="Arial" panose="020B0604020202020204" pitchFamily="34" charset="0"/>
              <a:buChar char="•"/>
            </a:pPr>
            <a:r>
              <a:rPr lang="en-US" dirty="0">
                <a:latin typeface="Montserrat" pitchFamily="2" charset="0"/>
              </a:rPr>
              <a:t>"Sequence Classification for Credit-Card Fraud Detection," ScienceDirect.</a:t>
            </a:r>
          </a:p>
          <a:p>
            <a:pPr marL="285750" indent="-285750" algn="just">
              <a:buFont typeface="Arial" panose="020B0604020202020204" pitchFamily="34" charset="0"/>
              <a:buChar char="•"/>
            </a:pPr>
            <a:r>
              <a:rPr lang="en-US" dirty="0">
                <a:latin typeface="Montserrat" pitchFamily="2" charset="0"/>
              </a:rPr>
              <a:t>Apache Software Foundation, "Apache Kafka Documentation," kafka.apache.org.</a:t>
            </a:r>
          </a:p>
          <a:p>
            <a:pPr marL="285750" indent="-285750" algn="just">
              <a:buFont typeface="Arial" panose="020B0604020202020204" pitchFamily="34" charset="0"/>
              <a:buChar char="•"/>
            </a:pPr>
            <a:r>
              <a:rPr lang="en-US" dirty="0">
                <a:latin typeface="Montserrat" pitchFamily="2" charset="0"/>
              </a:rPr>
              <a:t>Apache Spark Project, "Structured Streaming Programming Guide," spark.apache.org.</a:t>
            </a:r>
          </a:p>
          <a:p>
            <a:pPr marL="285750" indent="-285750" algn="just">
              <a:buFont typeface="Arial" panose="020B0604020202020204" pitchFamily="34" charset="0"/>
              <a:buChar char="•"/>
            </a:pPr>
            <a:r>
              <a:rPr lang="en-US" dirty="0">
                <a:latin typeface="Montserrat" pitchFamily="2" charset="0"/>
              </a:rPr>
              <a:t>Delta Lake Project, "Delta Lake Documentation," delta.io.</a:t>
            </a:r>
          </a:p>
        </p:txBody>
      </p:sp>
    </p:spTree>
    <p:extLst>
      <p:ext uri="{BB962C8B-B14F-4D97-AF65-F5344CB8AC3E}">
        <p14:creationId xmlns:p14="http://schemas.microsoft.com/office/powerpoint/2010/main" val="16623452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42963147" name="TextBox 650875185"/>
          <p:cNvSpPr txBox="1"/>
          <p:nvPr/>
        </p:nvSpPr>
        <p:spPr bwMode="auto">
          <a:xfrm>
            <a:off x="3906225" y="2057400"/>
            <a:ext cx="184731" cy="717632"/>
          </a:xfrm>
          <a:prstGeom prst="rect">
            <a:avLst/>
          </a:prstGeom>
          <a:noFill/>
        </p:spPr>
        <p:txBody>
          <a:bodyPr vertOverflow="overflow" horzOverflow="overflow" vert="horz" wrap="none" lIns="91440" tIns="45720" rIns="91440" bIns="45720" numCol="1" spcCol="0" rtlCol="0" fromWordArt="0" anchor="t" anchorCtr="0" forceAA="0" compatLnSpc="0">
            <a:spAutoFit/>
          </a:bodyPr>
          <a:lstStyle/>
          <a:p>
            <a:pPr>
              <a:defRPr/>
            </a:pPr>
            <a:endParaRPr sz="4000">
              <a:latin typeface="Montserrat"/>
              <a:cs typeface="Helvetica"/>
            </a:endParaRPr>
          </a:p>
        </p:txBody>
      </p:sp>
      <p:sp>
        <p:nvSpPr>
          <p:cNvPr id="1284655839" name="TextBox 1042091765"/>
          <p:cNvSpPr txBox="1"/>
          <p:nvPr/>
        </p:nvSpPr>
        <p:spPr bwMode="auto">
          <a:xfrm>
            <a:off x="2473367" y="1819585"/>
            <a:ext cx="7245265" cy="321883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ctr">
              <a:defRPr/>
            </a:pPr>
            <a:r>
              <a:rPr sz="10000" b="1">
                <a:latin typeface="Montserrat"/>
              </a:rPr>
              <a:t>THANK YOU</a:t>
            </a: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234</TotalTime>
  <Words>2008</Words>
  <Application>Microsoft Office PowerPoint</Application>
  <PresentationFormat>Widescreen</PresentationFormat>
  <Paragraphs>106</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Raghu Nandan Bheema</dc:creator>
  <cp:keywords/>
  <dc:description>generated using python-pptx</dc:description>
  <cp:lastModifiedBy>Raghu Nandan Bheema</cp:lastModifiedBy>
  <cp:revision>20</cp:revision>
  <dcterms:created xsi:type="dcterms:W3CDTF">2013-01-27T09:14:16Z</dcterms:created>
  <dcterms:modified xsi:type="dcterms:W3CDTF">2026-10-03T03:39:35Z</dcterms:modified>
  <cp:category/>
</cp:coreProperties>
</file>